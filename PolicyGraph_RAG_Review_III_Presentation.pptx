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4" d="100"/>
          <a:sy n="64" d="100"/>
        </p:scale>
        <p:origin x="95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8930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respected members of the panel, university faculty, and industry mentors from LTIMindtree. My name is Sasi Vardhan Talluri, ID T9928. Welcome to the Review III presentation of our Capstone Project: 'PolicyGraph-RAG: Temporal, Contradiction-Aware and Evidence-Verified Graph RAG for Healthcare Insurance Navigation'. Today, I will present the complete architectural engineering, workflow pipelines, empirical verification, and production outcomes developed under the LTIMindtree Advanced Industry Integrated Program.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introduce PolicyGraph-RAG: Health insurance policies are legally binding contracts governed by statutory authorities like IRDAI. Unlike general chatbots, insurance adjudication requires exact precision. If an AI hallucinates a room-rent sub-limit or misses a 24-month waiting period on a pre-existing condition, the patient faces catastrophic out-of-pocket costs. PolicyGraph-RAG integrates knowledge graphs and mathematical verification to make AI legally and financially dependable.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primary objectives for Review III center on five pillars: First, strict temporal versioning to avoid mixing expired 2022 clauses with active 2024 renewals. Second, deterministic statutory grounding via OKF. Third, multi-hop clause association using knowledge graphs. Fourth, mathematical post-generation validation guaranteeing that every number originates in retrieved evidence. And fifth, a scalable full-stack system built to LTIMindtree enterprise standards.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illustrates our end-to-end modular pipeline. Raw policy PDFs are ingested and given contextual breadcrumbs. Retrieval is handled via Hybrid Reciprocal Rank Fusion of BM25 and pgvector embeddings. HippoRAG performs associative graph walks over medical conditions and waiting periods. A CRAG evaluator verifies retrieval confidence, and MiniCheck combined with numerical set-difference checks guards against hallucination.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Slide 5, we identify the five core vulnerabilities that make generic RAG unsuitable for enterprise InsurTech. Arbitrary chunking breaks legal clauses in half. Dense vectors cannot distinguish numeric subtleties. Temporal contamination leads to answering with expired clauses. Hallucinations result in financial shortfall. And brute-force pairwise LLM comparison is too slow and cost-prohibitive for enterprise scale.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walks through the algorithmic workflow. We transition from PDF parsing to hybrid retrieval, graph reasoning, CRAG evaluation, and dual-phase verification. Hierarchical breadcrumbs guarantee that legal clauses maintain global contract context, while the Self-Refine loop ensures that no ungrounded response reaches the user.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Slide 7, we present the three foundational pillars of our technical approach. Pillar 1 covers the core algorithmic models including RRF, HippoRAG PageRank, and MiniCheck. Pillar 2 highlights our mathematical set-difference constraint ensuring zero invented numbers, alongside NumPy matrix pruning. Pillar 3 outlines our enterprise tech stack leveraging FastAPI, pgvector, and Next.js 14.</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presents our empirical results and implementation milestones. We achieved 100% numerical precision, proving our guardrails completely prevent hallucinated financial caps. Retrieval recall jumped from 68.5% to 94.2% through hybrid search and graph associative walks. Cross-version comparison runtime dropped from 45 minutes to 28 seconds. In our live demo, we showcase waiting period verification, proportionate deduction calculations, and version diffing.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PolicyGraph-RAG demonstrates that high-stakes domains like health insurance require hybrid architectures that blend deterministic rules, knowledge graphs, and rigorous post-generation validation. Looking forward, we aim to extend the platform to multi-modal vision parsing for hospital bills and connect directly with the National Health Claim Exchange (NHCX) APIs under the Ayushman Bharat Digital Mission.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would like to express my sincere gratitude to our academic guides and university faculty for their continuous support. I also extend my heartfelt thanks to our industry mentors from LTIMindtree for imparting real-world engineering standards and architectural best practices that made this project a success.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research is grounded in seminal peer-reviewed literature in Retrieval-Augmented Generation, neurobiologically inspired graph memory, lightweight fact-checking, and rank fusion. These papers established the theoretical foundations of PolicyGraph-RAG. Thank you, and I now look forward to questions and feedback from the panel.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731520"/>
            <a:ext cx="109728" cy="5303520"/>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961120" y="731520"/>
            <a:ext cx="2468880" cy="868680"/>
          </a:xfrm>
          <a:prstGeom prst="roundRect">
            <a:avLst/>
          </a:prstGeom>
          <a:solidFill>
            <a:srgbClr val="0F172A"/>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D97706"/>
                </a:solidFill>
                <a:latin typeface="Calibri"/>
              </a:defRPr>
            </a:pPr>
            <a:r>
              <a:t>LTIMindtree (LTM)</a:t>
            </a:r>
          </a:p>
          <a:p>
            <a:pPr algn="ctr">
              <a:defRPr sz="1100">
                <a:solidFill>
                  <a:srgbClr val="E2E8F0"/>
                </a:solidFill>
                <a:latin typeface="Calibri"/>
              </a:defRPr>
            </a:pPr>
            <a:r>
              <a:t>Corporate Knowledge Partner</a:t>
            </a:r>
          </a:p>
        </p:txBody>
      </p:sp>
      <p:sp>
        <p:nvSpPr>
          <p:cNvPr id="5" name="TextBox 4"/>
          <p:cNvSpPr txBox="1"/>
          <p:nvPr/>
        </p:nvSpPr>
        <p:spPr>
          <a:xfrm>
            <a:off x="1097279" y="640080"/>
            <a:ext cx="10924831" cy="4180632"/>
          </a:xfrm>
          <a:prstGeom prst="rect">
            <a:avLst/>
          </a:prstGeom>
          <a:noFill/>
        </p:spPr>
        <p:txBody>
          <a:bodyPr wrap="square">
            <a:spAutoFit/>
          </a:bodyPr>
          <a:lstStyle/>
          <a:p>
            <a:pPr>
              <a:spcAft>
                <a:spcPts val="1000"/>
              </a:spcAft>
              <a:defRPr sz="1800" b="1">
                <a:solidFill>
                  <a:srgbClr val="FFFFFF"/>
                </a:solidFill>
                <a:latin typeface="Calibri"/>
              </a:defRPr>
            </a:pPr>
            <a:r>
              <a:rPr sz="2800" dirty="0"/>
              <a:t>REVIEW</a:t>
            </a:r>
            <a:r>
              <a:rPr lang="en-IN" sz="2800" dirty="0"/>
              <a:t> III</a:t>
            </a:r>
          </a:p>
          <a:p>
            <a:pPr>
              <a:spcAft>
                <a:spcPts val="1000"/>
              </a:spcAft>
              <a:defRPr sz="1800" b="1">
                <a:solidFill>
                  <a:srgbClr val="FFFFFF"/>
                </a:solidFill>
                <a:latin typeface="Calibri"/>
              </a:defRPr>
            </a:pPr>
            <a:endParaRPr lang="en-IN" sz="2800" dirty="0"/>
          </a:p>
          <a:p>
            <a:pPr>
              <a:spcAft>
                <a:spcPts val="1000"/>
              </a:spcAft>
              <a:defRPr sz="1800" b="1">
                <a:solidFill>
                  <a:srgbClr val="FFFFFF"/>
                </a:solidFill>
                <a:latin typeface="Calibri"/>
              </a:defRPr>
            </a:pPr>
            <a:endParaRPr lang="en-IN" sz="2800" dirty="0"/>
          </a:p>
          <a:p>
            <a:pPr>
              <a:spcAft>
                <a:spcPts val="1000"/>
              </a:spcAft>
              <a:defRPr sz="1800" b="1">
                <a:solidFill>
                  <a:srgbClr val="FFFFFF"/>
                </a:solidFill>
                <a:latin typeface="Calibri"/>
              </a:defRPr>
            </a:pPr>
            <a:r>
              <a:rPr sz="2800" dirty="0" err="1"/>
              <a:t>PolicyGraph</a:t>
            </a:r>
            <a:r>
              <a:rPr sz="2800" dirty="0"/>
              <a:t>-RAG: Temporal, Contradiction-Aware &amp; Evidence-Verified Graph RAG for Health Insurance Navigation</a:t>
            </a:r>
            <a:endParaRPr lang="en-GB" sz="2800" dirty="0"/>
          </a:p>
          <a:p>
            <a:pPr>
              <a:spcAft>
                <a:spcPts val="1000"/>
              </a:spcAft>
              <a:defRPr sz="1800" b="1">
                <a:solidFill>
                  <a:srgbClr val="FFFFFF"/>
                </a:solidFill>
                <a:latin typeface="Calibri"/>
              </a:defRPr>
            </a:pPr>
            <a:endParaRPr sz="2800" dirty="0"/>
          </a:p>
          <a:p>
            <a:pPr algn="ctr">
              <a:defRPr sz="2400" b="1">
                <a:solidFill>
                  <a:srgbClr val="F1F5F9"/>
                </a:solidFill>
                <a:latin typeface="Calibri"/>
              </a:defRPr>
            </a:pPr>
            <a:r>
              <a:rPr sz="2800" dirty="0"/>
              <a:t>SASI VARDHAN TALLURI</a:t>
            </a:r>
          </a:p>
          <a:p>
            <a:pPr algn="ctr">
              <a:defRPr sz="2200" b="1">
                <a:solidFill>
                  <a:srgbClr val="D97706"/>
                </a:solidFill>
                <a:latin typeface="Calibri"/>
              </a:defRPr>
            </a:pPr>
            <a:r>
              <a:rPr sz="2800" dirty="0"/>
              <a:t>T9928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8686800" cy="594360"/>
          </a:xfrm>
          <a:prstGeom prst="rect">
            <a:avLst/>
          </a:prstGeom>
          <a:noFill/>
        </p:spPr>
        <p:txBody>
          <a:bodyPr wrap="square" tIns="0" bIns="0">
            <a:spAutoFit/>
          </a:bodyPr>
          <a:lstStyle/>
          <a:p>
            <a:pPr>
              <a:defRPr sz="3400" b="1">
                <a:solidFill>
                  <a:srgbClr val="FFFFFF"/>
                </a:solidFill>
                <a:latin typeface="Calibri"/>
              </a:defRPr>
            </a:pPr>
            <a:r>
              <a:t>Introduction / About the Project</a:t>
            </a:r>
          </a:p>
        </p:txBody>
      </p:sp>
      <p:sp>
        <p:nvSpPr>
          <p:cNvPr id="5" name="Rounded Rectangle 4"/>
          <p:cNvSpPr/>
          <p:nvPr/>
        </p:nvSpPr>
        <p:spPr>
          <a:xfrm>
            <a:off x="9692640" y="201168"/>
            <a:ext cx="1920240" cy="621792"/>
          </a:xfrm>
          <a:prstGeom prst="round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Calibri"/>
              </a:defRPr>
            </a:pPr>
            <a:r>
              <a:t>LTIMindtree</a:t>
            </a:r>
          </a:p>
          <a:p>
            <a:pPr algn="ctr">
              <a:defRPr sz="900">
                <a:solidFill>
                  <a:srgbClr val="FEF3C7"/>
                </a:solidFill>
                <a:latin typeface="Calibri"/>
              </a:defRPr>
            </a:pPr>
            <a:r>
              <a:t>LTM Knowledge Partner</a:t>
            </a:r>
          </a:p>
        </p:txBody>
      </p:sp>
      <p:sp>
        <p:nvSpPr>
          <p:cNvPr id="6" name="Rectangle 5"/>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10728655" cy="320040"/>
          </a:xfrm>
          <a:prstGeom prst="rect">
            <a:avLst/>
          </a:prstGeom>
          <a:noFill/>
        </p:spPr>
        <p:txBody>
          <a:bodyPr wrap="none">
            <a:spAutoFit/>
          </a:bodyPr>
          <a:lstStyle/>
          <a:p>
            <a:pPr>
              <a:defRPr sz="1000">
                <a:solidFill>
                  <a:srgbClr val="64748B"/>
                </a:solidFill>
                <a:latin typeface="Calibri"/>
              </a:defRPr>
            </a:pPr>
            <a:r>
              <a:t>Advanced Industry Integrated Programs | Knowledge Partner: LTIMindtree (LTM) | Jointly Offered with University | Slide 2</a:t>
            </a:r>
          </a:p>
        </p:txBody>
      </p:sp>
      <p:sp>
        <p:nvSpPr>
          <p:cNvPr id="8" name="Rounded Rectangle 7"/>
          <p:cNvSpPr/>
          <p:nvPr/>
        </p:nvSpPr>
        <p:spPr>
          <a:xfrm>
            <a:off x="731520" y="1234440"/>
            <a:ext cx="10728655" cy="49834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1234440"/>
            <a:ext cx="10728655" cy="411480"/>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  DOMAIN CONTEXT &amp; ENTERPRISE NEED — LTIMINDTREE INDUSTRY INTEGRATED REVIEW</a:t>
            </a:r>
          </a:p>
        </p:txBody>
      </p:sp>
      <p:sp>
        <p:nvSpPr>
          <p:cNvPr id="10" name="TextBox 9"/>
          <p:cNvSpPr txBox="1"/>
          <p:nvPr/>
        </p:nvSpPr>
        <p:spPr>
          <a:xfrm>
            <a:off x="1005840" y="1783080"/>
            <a:ext cx="10149840" cy="4297680"/>
          </a:xfrm>
          <a:prstGeom prst="rect">
            <a:avLst/>
          </a:prstGeom>
          <a:noFill/>
        </p:spPr>
        <p:txBody>
          <a:bodyPr wrap="square">
            <a:spAutoFit/>
          </a:bodyPr>
          <a:lstStyle/>
          <a:p>
            <a:pPr>
              <a:spcAft>
                <a:spcPts val="1400"/>
              </a:spcAft>
              <a:defRPr sz="2200">
                <a:solidFill>
                  <a:srgbClr val="1E293B"/>
                </a:solidFill>
                <a:latin typeface="Calibri"/>
              </a:defRPr>
            </a:pPr>
            <a:r>
              <a:t>•   Enterprise GenAI platform engineered for high-stakes healthcare insurance navigation and claims pre-adjudication.</a:t>
            </a:r>
          </a:p>
          <a:p>
            <a:pPr>
              <a:spcAft>
                <a:spcPts val="1400"/>
              </a:spcAft>
              <a:defRPr sz="2200">
                <a:solidFill>
                  <a:srgbClr val="1E293B"/>
                </a:solidFill>
                <a:latin typeface="Calibri"/>
              </a:defRPr>
            </a:pPr>
            <a:r>
              <a:t>•   Navigates dense 40–120 page statutory legal contracts featuring complex waiting periods, room-rent cappings, and co-pays.</a:t>
            </a:r>
          </a:p>
          <a:p>
            <a:pPr>
              <a:spcAft>
                <a:spcPts val="1400"/>
              </a:spcAft>
              <a:defRPr sz="2200">
                <a:solidFill>
                  <a:srgbClr val="1E293B"/>
                </a:solidFill>
                <a:latin typeface="Calibri"/>
              </a:defRPr>
            </a:pPr>
            <a:r>
              <a:t>•   Overcomes critical failures in generic RAG: vector number-blindness, clause fragmentation, and temporal contamination.</a:t>
            </a:r>
          </a:p>
          <a:p>
            <a:pPr>
              <a:spcAft>
                <a:spcPts val="1400"/>
              </a:spcAft>
              <a:defRPr sz="2200">
                <a:solidFill>
                  <a:srgbClr val="1E293B"/>
                </a:solidFill>
                <a:latin typeface="Calibri"/>
              </a:defRPr>
            </a:pPr>
            <a:r>
              <a:t>•   Combines deterministic statutory compliance (Open Knowledge Format) with evidentiary retrieval (Contextual RAG &amp; HippoRAG).</a:t>
            </a:r>
          </a:p>
          <a:p>
            <a:pPr>
              <a:spcAft>
                <a:spcPts val="1400"/>
              </a:spcAft>
              <a:defRPr sz="2200">
                <a:solidFill>
                  <a:srgbClr val="1E293B"/>
                </a:solidFill>
                <a:latin typeface="Calibri"/>
              </a:defRPr>
            </a:pPr>
            <a:r>
              <a:t>•   Delivers zero-hallucination guidance backed by active-date temporal validation and auditable page-level citations.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8686800" cy="594360"/>
          </a:xfrm>
          <a:prstGeom prst="rect">
            <a:avLst/>
          </a:prstGeom>
          <a:noFill/>
        </p:spPr>
        <p:txBody>
          <a:bodyPr wrap="square" tIns="0" bIns="0">
            <a:spAutoFit/>
          </a:bodyPr>
          <a:lstStyle/>
          <a:p>
            <a:pPr>
              <a:defRPr sz="3400" b="1">
                <a:solidFill>
                  <a:srgbClr val="FFFFFF"/>
                </a:solidFill>
                <a:latin typeface="Calibri"/>
              </a:defRPr>
            </a:pPr>
            <a:r>
              <a:t>Project Objectives</a:t>
            </a:r>
          </a:p>
        </p:txBody>
      </p:sp>
      <p:sp>
        <p:nvSpPr>
          <p:cNvPr id="5" name="Rounded Rectangle 4"/>
          <p:cNvSpPr/>
          <p:nvPr/>
        </p:nvSpPr>
        <p:spPr>
          <a:xfrm>
            <a:off x="9692640" y="201168"/>
            <a:ext cx="1920240" cy="621792"/>
          </a:xfrm>
          <a:prstGeom prst="round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Calibri"/>
              </a:defRPr>
            </a:pPr>
            <a:r>
              <a:t>LTIMindtree</a:t>
            </a:r>
          </a:p>
          <a:p>
            <a:pPr algn="ctr">
              <a:defRPr sz="900">
                <a:solidFill>
                  <a:srgbClr val="FEF3C7"/>
                </a:solidFill>
                <a:latin typeface="Calibri"/>
              </a:defRPr>
            </a:pPr>
            <a:r>
              <a:t>LTM Knowledge Partner</a:t>
            </a:r>
          </a:p>
        </p:txBody>
      </p:sp>
      <p:sp>
        <p:nvSpPr>
          <p:cNvPr id="6" name="Rectangle 5"/>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10728655" cy="320040"/>
          </a:xfrm>
          <a:prstGeom prst="rect">
            <a:avLst/>
          </a:prstGeom>
          <a:noFill/>
        </p:spPr>
        <p:txBody>
          <a:bodyPr wrap="none">
            <a:spAutoFit/>
          </a:bodyPr>
          <a:lstStyle/>
          <a:p>
            <a:pPr>
              <a:defRPr sz="1000">
                <a:solidFill>
                  <a:srgbClr val="64748B"/>
                </a:solidFill>
                <a:latin typeface="Calibri"/>
              </a:defRPr>
            </a:pPr>
            <a:r>
              <a:t>Advanced Industry Integrated Programs | Knowledge Partner: LTIMindtree (LTM) | Jointly Offered with University | Slide 3</a:t>
            </a:r>
          </a:p>
        </p:txBody>
      </p:sp>
      <p:sp>
        <p:nvSpPr>
          <p:cNvPr id="8" name="Rounded Rectangle 7"/>
          <p:cNvSpPr/>
          <p:nvPr/>
        </p:nvSpPr>
        <p:spPr>
          <a:xfrm>
            <a:off x="731520" y="1234440"/>
            <a:ext cx="10728655" cy="49834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1234440"/>
            <a:ext cx="10728655" cy="411480"/>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  CORE ENGINEERING &amp; RESEARCH GOALS — LTIMINDTREE INDUSTRY INTEGRATED REVIEW</a:t>
            </a:r>
          </a:p>
        </p:txBody>
      </p:sp>
      <p:sp>
        <p:nvSpPr>
          <p:cNvPr id="10" name="TextBox 9"/>
          <p:cNvSpPr txBox="1"/>
          <p:nvPr/>
        </p:nvSpPr>
        <p:spPr>
          <a:xfrm>
            <a:off x="1005840" y="1783080"/>
            <a:ext cx="10149840" cy="4297680"/>
          </a:xfrm>
          <a:prstGeom prst="rect">
            <a:avLst/>
          </a:prstGeom>
          <a:noFill/>
        </p:spPr>
        <p:txBody>
          <a:bodyPr wrap="square">
            <a:spAutoFit/>
          </a:bodyPr>
          <a:lstStyle/>
          <a:p>
            <a:pPr>
              <a:spcAft>
                <a:spcPts val="1400"/>
              </a:spcAft>
              <a:defRPr sz="2200">
                <a:solidFill>
                  <a:srgbClr val="1E293B"/>
                </a:solidFill>
                <a:latin typeface="Calibri"/>
              </a:defRPr>
            </a:pPr>
            <a:r>
              <a:t>•   Eliminate policy wording contamination across renewal years using strict database-level SQL temporal predicates.</a:t>
            </a:r>
          </a:p>
          <a:p>
            <a:pPr>
              <a:spcAft>
                <a:spcPts val="1400"/>
              </a:spcAft>
              <a:defRPr sz="2200">
                <a:solidFill>
                  <a:srgbClr val="1E293B"/>
                </a:solidFill>
                <a:latin typeface="Calibri"/>
              </a:defRPr>
            </a:pPr>
            <a:r>
              <a:t>•   Integrate Open Knowledge Format (OKF) canonical rule ontologies to enforce deterministic statutory guidelines.</a:t>
            </a:r>
          </a:p>
          <a:p>
            <a:pPr>
              <a:spcAft>
                <a:spcPts val="1400"/>
              </a:spcAft>
              <a:defRPr sz="2200">
                <a:solidFill>
                  <a:srgbClr val="1E293B"/>
                </a:solidFill>
                <a:latin typeface="Calibri"/>
              </a:defRPr>
            </a:pPr>
            <a:r>
              <a:t>•   Resolve multi-hop, non-contiguous clause relationships (e.g., room-rent proportionate deductions) via HippoRAG graph walks.</a:t>
            </a:r>
          </a:p>
          <a:p>
            <a:pPr>
              <a:spcAft>
                <a:spcPts val="1400"/>
              </a:spcAft>
              <a:defRPr sz="2200">
                <a:solidFill>
                  <a:srgbClr val="1E293B"/>
                </a:solidFill>
                <a:latin typeface="Calibri"/>
              </a:defRPr>
            </a:pPr>
            <a:r>
              <a:t>•   Enforce zero numerical hallucination using MiniCheck atomic proposition verification and mathematical set-difference guards.</a:t>
            </a:r>
          </a:p>
          <a:p>
            <a:pPr>
              <a:spcAft>
                <a:spcPts val="1400"/>
              </a:spcAft>
              <a:defRPr sz="2200">
                <a:solidFill>
                  <a:srgbClr val="1E293B"/>
                </a:solidFill>
                <a:latin typeface="Calibri"/>
              </a:defRPr>
            </a:pPr>
            <a:r>
              <a:t>•   Deploy an enterprise full-stack solution featuring sub-second PDF ingestion, cross-version diffing, and citation provenance.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8686800" cy="274320"/>
          </a:xfrm>
          <a:prstGeom prst="rect">
            <a:avLst/>
          </a:prstGeom>
          <a:noFill/>
        </p:spPr>
        <p:txBody>
          <a:bodyPr wrap="square" tIns="0" bIns="0">
            <a:spAutoFit/>
          </a:bodyPr>
          <a:lstStyle/>
          <a:p>
            <a:pPr>
              <a:defRPr sz="1100" b="1">
                <a:solidFill>
                  <a:srgbClr val="D97706"/>
                </a:solidFill>
                <a:latin typeface="Calibri"/>
              </a:defRPr>
            </a:pPr>
            <a:r>
              <a:t>M.TECH/MCA PROGRAM — REVIEW III</a:t>
            </a:r>
          </a:p>
        </p:txBody>
      </p:sp>
      <p:sp>
        <p:nvSpPr>
          <p:cNvPr id="4" name="TextBox 3"/>
          <p:cNvSpPr txBox="1"/>
          <p:nvPr/>
        </p:nvSpPr>
        <p:spPr>
          <a:xfrm>
            <a:off x="731520" y="365760"/>
            <a:ext cx="8686800" cy="594360"/>
          </a:xfrm>
          <a:prstGeom prst="rect">
            <a:avLst/>
          </a:prstGeom>
          <a:noFill/>
        </p:spPr>
        <p:txBody>
          <a:bodyPr wrap="square" tIns="0" bIns="0">
            <a:spAutoFit/>
          </a:bodyPr>
          <a:lstStyle/>
          <a:p>
            <a:pPr>
              <a:defRPr sz="3400" b="1">
                <a:solidFill>
                  <a:srgbClr val="FFFFFF"/>
                </a:solidFill>
                <a:latin typeface="Calibri"/>
              </a:defRPr>
            </a:pPr>
            <a:r>
              <a:t>System Architecture &amp; Core Modules</a:t>
            </a:r>
          </a:p>
        </p:txBody>
      </p:sp>
      <p:sp>
        <p:nvSpPr>
          <p:cNvPr id="5" name="Rounded Rectangle 4"/>
          <p:cNvSpPr/>
          <p:nvPr/>
        </p:nvSpPr>
        <p:spPr>
          <a:xfrm>
            <a:off x="9692640" y="201168"/>
            <a:ext cx="1920240" cy="621792"/>
          </a:xfrm>
          <a:prstGeom prst="round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Calibri"/>
              </a:defRPr>
            </a:pPr>
            <a:r>
              <a:t>LTIMindtree</a:t>
            </a:r>
          </a:p>
          <a:p>
            <a:pPr algn="ctr">
              <a:defRPr sz="900">
                <a:solidFill>
                  <a:srgbClr val="FEF3C7"/>
                </a:solidFill>
                <a:latin typeface="Calibri"/>
              </a:defRPr>
            </a:pPr>
            <a:r>
              <a:t>LTM Knowledge Partner</a:t>
            </a:r>
          </a:p>
        </p:txBody>
      </p:sp>
      <p:sp>
        <p:nvSpPr>
          <p:cNvPr id="6" name="Rectangle 5"/>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10728655" cy="320040"/>
          </a:xfrm>
          <a:prstGeom prst="rect">
            <a:avLst/>
          </a:prstGeom>
          <a:noFill/>
        </p:spPr>
        <p:txBody>
          <a:bodyPr wrap="none">
            <a:spAutoFit/>
          </a:bodyPr>
          <a:lstStyle/>
          <a:p>
            <a:pPr>
              <a:defRPr sz="1000">
                <a:solidFill>
                  <a:srgbClr val="64748B"/>
                </a:solidFill>
                <a:latin typeface="Calibri"/>
              </a:defRPr>
            </a:pPr>
            <a:r>
              <a:t>Advanced Industry Integrated Programs | Knowledge Partner: LTIMindtree (LTM) | Jointly Offered with University | Slide 4</a:t>
            </a:r>
          </a:p>
        </p:txBody>
      </p:sp>
      <p:sp>
        <p:nvSpPr>
          <p:cNvPr id="8" name="Rounded Rectangle 7"/>
          <p:cNvSpPr/>
          <p:nvPr/>
        </p:nvSpPr>
        <p:spPr>
          <a:xfrm>
            <a:off x="731520" y="1280160"/>
            <a:ext cx="1965960" cy="2926080"/>
          </a:xfrm>
          <a:prstGeom prst="roundRect">
            <a:avLst/>
          </a:prstGeom>
          <a:solidFill>
            <a:srgbClr val="F8FAFC"/>
          </a:solidFill>
          <a:ln w="2540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1280160"/>
            <a:ext cx="1965960" cy="64008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EF3C7"/>
                </a:solidFill>
                <a:latin typeface="Calibri"/>
              </a:defRPr>
            </a:pPr>
            <a:r>
              <a:t>Module 1</a:t>
            </a:r>
          </a:p>
          <a:p>
            <a:pPr algn="ctr">
              <a:defRPr sz="1200" b="1">
                <a:solidFill>
                  <a:srgbClr val="FFFFFF"/>
                </a:solidFill>
                <a:latin typeface="Calibri"/>
              </a:defRPr>
            </a:pPr>
            <a:r>
              <a:t>Contextual Ingestion</a:t>
            </a:r>
          </a:p>
        </p:txBody>
      </p:sp>
      <p:sp>
        <p:nvSpPr>
          <p:cNvPr id="10" name="TextBox 9"/>
          <p:cNvSpPr txBox="1"/>
          <p:nvPr/>
        </p:nvSpPr>
        <p:spPr>
          <a:xfrm>
            <a:off x="822960" y="2011680"/>
            <a:ext cx="1783080" cy="2103120"/>
          </a:xfrm>
          <a:prstGeom prst="rect">
            <a:avLst/>
          </a:prstGeom>
          <a:noFill/>
        </p:spPr>
        <p:txBody>
          <a:bodyPr wrap="square">
            <a:spAutoFit/>
          </a:bodyPr>
          <a:lstStyle/>
          <a:p>
            <a:pPr>
              <a:defRPr sz="1300">
                <a:solidFill>
                  <a:srgbClr val="1E293B"/>
                </a:solidFill>
                <a:latin typeface="Calibri"/>
              </a:defRPr>
            </a:pPr>
            <a:r>
              <a:t>Section-aware chunker</a:t>
            </a:r>
            <a:br/>
            <a:r>
              <a:t>Hierarchical breadcrumbs</a:t>
            </a:r>
            <a:br/>
            <a:r>
              <a:t>PyMuPDF + OCR pipeline</a:t>
            </a:r>
          </a:p>
        </p:txBody>
      </p:sp>
      <p:sp>
        <p:nvSpPr>
          <p:cNvPr id="11" name="Right Arrow 10"/>
          <p:cNvSpPr/>
          <p:nvPr/>
        </p:nvSpPr>
        <p:spPr>
          <a:xfrm>
            <a:off x="2734056" y="2468880"/>
            <a:ext cx="146304" cy="228600"/>
          </a:xfrm>
          <a:prstGeom prst="rightArrow">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916936" y="1280160"/>
            <a:ext cx="1965960" cy="2926080"/>
          </a:xfrm>
          <a:prstGeom prst="roundRect">
            <a:avLst/>
          </a:prstGeom>
          <a:solidFill>
            <a:srgbClr val="F8FAFC"/>
          </a:solidFill>
          <a:ln w="254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16936" y="1280160"/>
            <a:ext cx="1965960" cy="640080"/>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EF3C7"/>
                </a:solidFill>
                <a:latin typeface="Calibri"/>
              </a:defRPr>
            </a:pPr>
            <a:r>
              <a:t>Module 2</a:t>
            </a:r>
          </a:p>
          <a:p>
            <a:pPr algn="ctr">
              <a:defRPr sz="1200" b="1">
                <a:solidFill>
                  <a:srgbClr val="FFFFFF"/>
                </a:solidFill>
                <a:latin typeface="Calibri"/>
              </a:defRPr>
            </a:pPr>
            <a:r>
              <a:t>Hybrid Retrieval</a:t>
            </a:r>
          </a:p>
        </p:txBody>
      </p:sp>
      <p:sp>
        <p:nvSpPr>
          <p:cNvPr id="14" name="TextBox 13"/>
          <p:cNvSpPr txBox="1"/>
          <p:nvPr/>
        </p:nvSpPr>
        <p:spPr>
          <a:xfrm>
            <a:off x="3008376" y="2011680"/>
            <a:ext cx="1783080" cy="2103120"/>
          </a:xfrm>
          <a:prstGeom prst="rect">
            <a:avLst/>
          </a:prstGeom>
          <a:noFill/>
        </p:spPr>
        <p:txBody>
          <a:bodyPr wrap="square">
            <a:spAutoFit/>
          </a:bodyPr>
          <a:lstStyle/>
          <a:p>
            <a:pPr>
              <a:defRPr sz="1300">
                <a:solidFill>
                  <a:srgbClr val="1E293B"/>
                </a:solidFill>
                <a:latin typeface="Calibri"/>
              </a:defRPr>
            </a:pPr>
            <a:r>
              <a:t>Contextual BM25 (sparse)</a:t>
            </a:r>
            <a:br/>
            <a:r>
              <a:t>pgvector Cosine (dense)</a:t>
            </a:r>
            <a:br/>
            <a:r>
              <a:t>RRF Fusion (k=60)</a:t>
            </a:r>
          </a:p>
        </p:txBody>
      </p:sp>
      <p:sp>
        <p:nvSpPr>
          <p:cNvPr id="15" name="Right Arrow 14"/>
          <p:cNvSpPr/>
          <p:nvPr/>
        </p:nvSpPr>
        <p:spPr>
          <a:xfrm>
            <a:off x="4919472" y="2468880"/>
            <a:ext cx="146304" cy="228600"/>
          </a:xfrm>
          <a:prstGeom prst="rightArrow">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102352" y="1280160"/>
            <a:ext cx="1965960" cy="2926080"/>
          </a:xfrm>
          <a:prstGeom prst="roundRect">
            <a:avLst/>
          </a:prstGeom>
          <a:solidFill>
            <a:srgbClr val="F8FAFC"/>
          </a:solidFill>
          <a:ln w="2540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102352" y="1280160"/>
            <a:ext cx="1965960" cy="64008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EF3C7"/>
                </a:solidFill>
                <a:latin typeface="Calibri"/>
              </a:defRPr>
            </a:pPr>
            <a:r>
              <a:t>Module 3</a:t>
            </a:r>
          </a:p>
          <a:p>
            <a:pPr algn="ctr">
              <a:defRPr sz="1200" b="1">
                <a:solidFill>
                  <a:srgbClr val="FFFFFF"/>
                </a:solidFill>
                <a:latin typeface="Calibri"/>
              </a:defRPr>
            </a:pPr>
            <a:r>
              <a:t>HippoRAG Graph</a:t>
            </a:r>
          </a:p>
        </p:txBody>
      </p:sp>
      <p:sp>
        <p:nvSpPr>
          <p:cNvPr id="18" name="TextBox 17"/>
          <p:cNvSpPr txBox="1"/>
          <p:nvPr/>
        </p:nvSpPr>
        <p:spPr>
          <a:xfrm>
            <a:off x="5193792" y="2011680"/>
            <a:ext cx="1783080" cy="2103120"/>
          </a:xfrm>
          <a:prstGeom prst="rect">
            <a:avLst/>
          </a:prstGeom>
          <a:noFill/>
        </p:spPr>
        <p:txBody>
          <a:bodyPr wrap="square">
            <a:spAutoFit/>
          </a:bodyPr>
          <a:lstStyle/>
          <a:p>
            <a:pPr>
              <a:defRPr sz="1300">
                <a:solidFill>
                  <a:srgbClr val="1E293B"/>
                </a:solidFill>
                <a:latin typeface="Calibri"/>
              </a:defRPr>
            </a:pPr>
            <a:r>
              <a:t>Entity extraction</a:t>
            </a:r>
            <a:br/>
            <a:r>
              <a:t>Associative PageRank</a:t>
            </a:r>
            <a:br/>
            <a:r>
              <a:t>Multi-hop clause linkage</a:t>
            </a:r>
          </a:p>
        </p:txBody>
      </p:sp>
      <p:sp>
        <p:nvSpPr>
          <p:cNvPr id="19" name="Right Arrow 18"/>
          <p:cNvSpPr/>
          <p:nvPr/>
        </p:nvSpPr>
        <p:spPr>
          <a:xfrm>
            <a:off x="7104888" y="2468880"/>
            <a:ext cx="146304" cy="228600"/>
          </a:xfrm>
          <a:prstGeom prst="rightArrow">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287768" y="1280160"/>
            <a:ext cx="1965960" cy="2926080"/>
          </a:xfrm>
          <a:prstGeom prst="roundRect">
            <a:avLst/>
          </a:prstGeom>
          <a:solidFill>
            <a:srgbClr val="F8FAFC"/>
          </a:solidFill>
          <a:ln w="254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287768" y="1280160"/>
            <a:ext cx="1965960" cy="640080"/>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EF3C7"/>
                </a:solidFill>
                <a:latin typeface="Calibri"/>
              </a:defRPr>
            </a:pPr>
            <a:r>
              <a:t>Module 4</a:t>
            </a:r>
          </a:p>
          <a:p>
            <a:pPr algn="ctr">
              <a:defRPr sz="1200" b="1">
                <a:solidFill>
                  <a:srgbClr val="FFFFFF"/>
                </a:solidFill>
                <a:latin typeface="Calibri"/>
              </a:defRPr>
            </a:pPr>
            <a:r>
              <a:t>CRAG &amp; Rerank</a:t>
            </a:r>
          </a:p>
        </p:txBody>
      </p:sp>
      <p:sp>
        <p:nvSpPr>
          <p:cNvPr id="22" name="TextBox 21"/>
          <p:cNvSpPr txBox="1"/>
          <p:nvPr/>
        </p:nvSpPr>
        <p:spPr>
          <a:xfrm>
            <a:off x="7379208" y="2011680"/>
            <a:ext cx="1783080" cy="2103120"/>
          </a:xfrm>
          <a:prstGeom prst="rect">
            <a:avLst/>
          </a:prstGeom>
          <a:noFill/>
        </p:spPr>
        <p:txBody>
          <a:bodyPr wrap="square">
            <a:spAutoFit/>
          </a:bodyPr>
          <a:lstStyle/>
          <a:p>
            <a:pPr>
              <a:defRPr sz="1300">
                <a:solidFill>
                  <a:srgbClr val="1E293B"/>
                </a:solidFill>
                <a:latin typeface="Calibri"/>
              </a:defRPr>
            </a:pPr>
            <a:r>
              <a:t>Corrective RAG scoring</a:t>
            </a:r>
            <a:br/>
            <a:r>
              <a:t>Query expansion fallback</a:t>
            </a:r>
            <a:br/>
            <a:r>
              <a:t>BGE Cross-Encoder</a:t>
            </a:r>
          </a:p>
        </p:txBody>
      </p:sp>
      <p:sp>
        <p:nvSpPr>
          <p:cNvPr id="23" name="Right Arrow 22"/>
          <p:cNvSpPr/>
          <p:nvPr/>
        </p:nvSpPr>
        <p:spPr>
          <a:xfrm>
            <a:off x="9290304" y="2468880"/>
            <a:ext cx="146304" cy="228600"/>
          </a:xfrm>
          <a:prstGeom prst="rightArrow">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9473184" y="1280160"/>
            <a:ext cx="1965960" cy="2926080"/>
          </a:xfrm>
          <a:prstGeom prst="roundRect">
            <a:avLst/>
          </a:prstGeom>
          <a:solidFill>
            <a:srgbClr val="F8FAFC"/>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473184" y="1280160"/>
            <a:ext cx="1965960" cy="640080"/>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EF3C7"/>
                </a:solidFill>
                <a:latin typeface="Calibri"/>
              </a:defRPr>
            </a:pPr>
            <a:r>
              <a:t>Module 5</a:t>
            </a:r>
          </a:p>
          <a:p>
            <a:pPr algn="ctr">
              <a:defRPr sz="1200" b="1">
                <a:solidFill>
                  <a:srgbClr val="FFFFFF"/>
                </a:solidFill>
                <a:latin typeface="Calibri"/>
              </a:defRPr>
            </a:pPr>
            <a:r>
              <a:t>Guardrails &amp; Verify</a:t>
            </a:r>
          </a:p>
        </p:txBody>
      </p:sp>
      <p:sp>
        <p:nvSpPr>
          <p:cNvPr id="26" name="TextBox 25"/>
          <p:cNvSpPr txBox="1"/>
          <p:nvPr/>
        </p:nvSpPr>
        <p:spPr>
          <a:xfrm>
            <a:off x="9564624" y="2011680"/>
            <a:ext cx="1783080" cy="2103120"/>
          </a:xfrm>
          <a:prstGeom prst="rect">
            <a:avLst/>
          </a:prstGeom>
          <a:noFill/>
        </p:spPr>
        <p:txBody>
          <a:bodyPr wrap="square">
            <a:spAutoFit/>
          </a:bodyPr>
          <a:lstStyle/>
          <a:p>
            <a:pPr>
              <a:defRPr sz="1300">
                <a:solidFill>
                  <a:srgbClr val="1E293B"/>
                </a:solidFill>
                <a:latin typeface="Calibri"/>
              </a:defRPr>
            </a:pPr>
            <a:r>
              <a:t>MiniCheck atomic claims</a:t>
            </a:r>
            <a:br/>
            <a:r>
              <a:t>Num set-difference guard</a:t>
            </a:r>
            <a:br/>
            <a:r>
              <a:t>Automated Self-Refine</a:t>
            </a:r>
          </a:p>
        </p:txBody>
      </p:sp>
      <p:sp>
        <p:nvSpPr>
          <p:cNvPr id="27" name="Rounded Rectangle 26"/>
          <p:cNvSpPr/>
          <p:nvPr/>
        </p:nvSpPr>
        <p:spPr>
          <a:xfrm>
            <a:off x="731520" y="4389120"/>
            <a:ext cx="10728655" cy="18288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A365D"/>
                </a:solidFill>
                <a:latin typeface="Calibri"/>
              </a:defRPr>
            </a:pPr>
            <a:r>
              <a:t>END-TO-END DATAFLOW PIPELINE SUMMARY:</a:t>
            </a:r>
          </a:p>
          <a:p>
            <a:pPr>
              <a:spcAft>
                <a:spcPts val="400"/>
              </a:spcAft>
              <a:defRPr sz="1500">
                <a:solidFill>
                  <a:srgbClr val="1E293B"/>
                </a:solidFill>
                <a:latin typeface="Calibri"/>
              </a:defRPr>
            </a:pPr>
            <a:r>
              <a:t>•  Ingestion extracts text &amp; tags breadcrumbs -&gt; Hybrid RRF fuses sparse &amp; dense vectors for recall.</a:t>
            </a:r>
          </a:p>
          <a:p>
            <a:pPr>
              <a:spcAft>
                <a:spcPts val="400"/>
              </a:spcAft>
              <a:defRPr sz="1500">
                <a:solidFill>
                  <a:srgbClr val="1E293B"/>
                </a:solidFill>
                <a:latin typeface="Calibri"/>
              </a:defRPr>
            </a:pPr>
            <a:r>
              <a:t>•  HippoRAG walks entity graph -&gt; CRAG evaluates context adequacy &amp; triggers neural reranking.</a:t>
            </a:r>
          </a:p>
          <a:p>
            <a:pPr>
              <a:spcAft>
                <a:spcPts val="400"/>
              </a:spcAft>
              <a:defRPr sz="1500">
                <a:solidFill>
                  <a:srgbClr val="1E293B"/>
                </a:solidFill>
                <a:latin typeface="Calibri"/>
              </a:defRPr>
            </a:pPr>
            <a:r>
              <a:t>•  Deterministic OKF guidelines + MiniCheck mathematical verification ensure 100% compliant generation.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8686800" cy="274320"/>
          </a:xfrm>
          <a:prstGeom prst="rect">
            <a:avLst/>
          </a:prstGeom>
          <a:noFill/>
        </p:spPr>
        <p:txBody>
          <a:bodyPr wrap="square" tIns="0" bIns="0">
            <a:spAutoFit/>
          </a:bodyPr>
          <a:lstStyle/>
          <a:p>
            <a:pPr>
              <a:defRPr sz="1100" b="1">
                <a:solidFill>
                  <a:srgbClr val="D97706"/>
                </a:solidFill>
                <a:latin typeface="Calibri"/>
              </a:defRPr>
            </a:pPr>
            <a:r>
              <a:t>M.TECH/MCA PROGRAM — REVIEW III</a:t>
            </a:r>
          </a:p>
        </p:txBody>
      </p:sp>
      <p:sp>
        <p:nvSpPr>
          <p:cNvPr id="4" name="TextBox 3"/>
          <p:cNvSpPr txBox="1"/>
          <p:nvPr/>
        </p:nvSpPr>
        <p:spPr>
          <a:xfrm>
            <a:off x="731520" y="365760"/>
            <a:ext cx="8686800" cy="594360"/>
          </a:xfrm>
          <a:prstGeom prst="rect">
            <a:avLst/>
          </a:prstGeom>
          <a:noFill/>
        </p:spPr>
        <p:txBody>
          <a:bodyPr wrap="square" tIns="0" bIns="0">
            <a:spAutoFit/>
          </a:bodyPr>
          <a:lstStyle/>
          <a:p>
            <a:pPr>
              <a:defRPr sz="3400" b="1">
                <a:solidFill>
                  <a:srgbClr val="FFFFFF"/>
                </a:solidFill>
                <a:latin typeface="Calibri"/>
              </a:defRPr>
            </a:pPr>
            <a:r>
              <a:t>Problem Statement: Generic RAG Failures</a:t>
            </a:r>
          </a:p>
        </p:txBody>
      </p:sp>
      <p:sp>
        <p:nvSpPr>
          <p:cNvPr id="5" name="Rounded Rectangle 4"/>
          <p:cNvSpPr/>
          <p:nvPr/>
        </p:nvSpPr>
        <p:spPr>
          <a:xfrm>
            <a:off x="9692640" y="201168"/>
            <a:ext cx="1920240" cy="621792"/>
          </a:xfrm>
          <a:prstGeom prst="round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Calibri"/>
              </a:defRPr>
            </a:pPr>
            <a:r>
              <a:t>LTIMindtree</a:t>
            </a:r>
          </a:p>
          <a:p>
            <a:pPr algn="ctr">
              <a:defRPr sz="900">
                <a:solidFill>
                  <a:srgbClr val="FEF3C7"/>
                </a:solidFill>
                <a:latin typeface="Calibri"/>
              </a:defRPr>
            </a:pPr>
            <a:r>
              <a:t>LTM Knowledge Partner</a:t>
            </a:r>
          </a:p>
        </p:txBody>
      </p:sp>
      <p:sp>
        <p:nvSpPr>
          <p:cNvPr id="6" name="Rectangle 5"/>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10728655" cy="320040"/>
          </a:xfrm>
          <a:prstGeom prst="rect">
            <a:avLst/>
          </a:prstGeom>
          <a:noFill/>
        </p:spPr>
        <p:txBody>
          <a:bodyPr wrap="none">
            <a:spAutoFit/>
          </a:bodyPr>
          <a:lstStyle/>
          <a:p>
            <a:pPr>
              <a:defRPr sz="1000">
                <a:solidFill>
                  <a:srgbClr val="64748B"/>
                </a:solidFill>
                <a:latin typeface="Calibri"/>
              </a:defRPr>
            </a:pPr>
            <a:r>
              <a:t>Advanced Industry Integrated Programs | Knowledge Partner: LTIMindtree (LTM) | Jointly Offered with University | Slide 5</a:t>
            </a:r>
          </a:p>
        </p:txBody>
      </p:sp>
      <p:sp>
        <p:nvSpPr>
          <p:cNvPr id="8" name="Rounded Rectangle 7"/>
          <p:cNvSpPr/>
          <p:nvPr/>
        </p:nvSpPr>
        <p:spPr>
          <a:xfrm>
            <a:off x="731520" y="1280160"/>
            <a:ext cx="5212080" cy="1417320"/>
          </a:xfrm>
          <a:prstGeom prst="roundRect">
            <a:avLst/>
          </a:prstGeom>
          <a:solidFill>
            <a:srgbClr val="F8FAFC"/>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defRPr sz="1500" b="1">
                <a:solidFill>
                  <a:srgbClr val="E11D48"/>
                </a:solidFill>
                <a:latin typeface="Calibri"/>
              </a:defRPr>
            </a:pPr>
            <a:r>
              <a:t>1. Clause Fragmentation</a:t>
            </a:r>
          </a:p>
          <a:p>
            <a:pPr>
              <a:defRPr sz="1300">
                <a:solidFill>
                  <a:srgbClr val="1E293B"/>
                </a:solidFill>
                <a:latin typeface="Calibri"/>
              </a:defRPr>
            </a:pPr>
            <a:r>
              <a:t>Fixed token chunking splits benefit clauses from their mandatory waiting periods and exclusion riders, causing AI to omit critical constraints.</a:t>
            </a:r>
          </a:p>
        </p:txBody>
      </p:sp>
      <p:sp>
        <p:nvSpPr>
          <p:cNvPr id="9" name="Rounded Rectangle 8"/>
          <p:cNvSpPr/>
          <p:nvPr/>
        </p:nvSpPr>
        <p:spPr>
          <a:xfrm>
            <a:off x="6248095" y="1280160"/>
            <a:ext cx="5212080" cy="1417320"/>
          </a:xfrm>
          <a:prstGeom prst="roundRect">
            <a:avLst/>
          </a:prstGeom>
          <a:solidFill>
            <a:srgbClr val="F8FAFC"/>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defRPr sz="1500" b="1">
                <a:solidFill>
                  <a:srgbClr val="E11D48"/>
                </a:solidFill>
                <a:latin typeface="Calibri"/>
              </a:defRPr>
            </a:pPr>
            <a:r>
              <a:t>2. Vector 'Number-Blindness'</a:t>
            </a:r>
          </a:p>
          <a:p>
            <a:pPr>
              <a:defRPr sz="1300">
                <a:solidFill>
                  <a:srgbClr val="1E293B"/>
                </a:solidFill>
                <a:latin typeface="Calibri"/>
              </a:defRPr>
            </a:pPr>
            <a:r>
              <a:t>Dense vector embeddings treat numbers as generic coordinates. Cosine similarity cannot differentiate between '1% room rent' and '2% room rent'.</a:t>
            </a:r>
          </a:p>
        </p:txBody>
      </p:sp>
      <p:sp>
        <p:nvSpPr>
          <p:cNvPr id="10" name="Rounded Rectangle 9"/>
          <p:cNvSpPr/>
          <p:nvPr/>
        </p:nvSpPr>
        <p:spPr>
          <a:xfrm>
            <a:off x="731520" y="2880360"/>
            <a:ext cx="5212080" cy="1417320"/>
          </a:xfrm>
          <a:prstGeom prst="roundRect">
            <a:avLst/>
          </a:prstGeom>
          <a:solidFill>
            <a:srgbClr val="F8FAFC"/>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defRPr sz="1500" b="1">
                <a:solidFill>
                  <a:srgbClr val="E11D48"/>
                </a:solidFill>
                <a:latin typeface="Calibri"/>
              </a:defRPr>
            </a:pPr>
            <a:r>
              <a:t>3. Temporal Version Contamination</a:t>
            </a:r>
          </a:p>
          <a:p>
            <a:pPr>
              <a:defRPr sz="1300">
                <a:solidFill>
                  <a:srgbClr val="1E293B"/>
                </a:solidFill>
                <a:latin typeface="Calibri"/>
              </a:defRPr>
            </a:pPr>
            <a:r>
              <a:t>Standard RAG silently blends expired terms from 2022 policy files with active 2024 renewal terms during user queries.</a:t>
            </a:r>
          </a:p>
        </p:txBody>
      </p:sp>
      <p:sp>
        <p:nvSpPr>
          <p:cNvPr id="11" name="Rounded Rectangle 10"/>
          <p:cNvSpPr/>
          <p:nvPr/>
        </p:nvSpPr>
        <p:spPr>
          <a:xfrm>
            <a:off x="6248095" y="2880360"/>
            <a:ext cx="5212080" cy="1417320"/>
          </a:xfrm>
          <a:prstGeom prst="roundRect">
            <a:avLst/>
          </a:prstGeom>
          <a:solidFill>
            <a:srgbClr val="F8FAFC"/>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defRPr sz="1500" b="1">
                <a:solidFill>
                  <a:srgbClr val="E11D48"/>
                </a:solidFill>
                <a:latin typeface="Calibri"/>
              </a:defRPr>
            </a:pPr>
            <a:r>
              <a:t>4. High-Stakes Financial Hallucination</a:t>
            </a:r>
          </a:p>
          <a:p>
            <a:pPr>
              <a:defRPr sz="1300">
                <a:solidFill>
                  <a:srgbClr val="1E293B"/>
                </a:solidFill>
                <a:latin typeface="Calibri"/>
              </a:defRPr>
            </a:pPr>
            <a:r>
              <a:t>Generative LLMs invent plausible but non-existent sub-limits or miss proportionate deduction penalties on room-rent upgrades.</a:t>
            </a:r>
          </a:p>
        </p:txBody>
      </p:sp>
      <p:sp>
        <p:nvSpPr>
          <p:cNvPr id="12" name="Rounded Rectangle 11"/>
          <p:cNvSpPr/>
          <p:nvPr/>
        </p:nvSpPr>
        <p:spPr>
          <a:xfrm>
            <a:off x="731520" y="4480560"/>
            <a:ext cx="10728655" cy="1645920"/>
          </a:xfrm>
          <a:prstGeom prst="roundRect">
            <a:avLst/>
          </a:prstGeom>
          <a:solidFill>
            <a:srgbClr val="F8FAFC"/>
          </a:solidFill>
          <a:ln w="19050">
            <a:solidFill>
              <a:srgbClr val="1A365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defRPr sz="1500" b="1">
                <a:solidFill>
                  <a:srgbClr val="1A365D"/>
                </a:solidFill>
                <a:latin typeface="Calibri"/>
              </a:defRPr>
            </a:pPr>
            <a:r>
              <a:t>5. Pairwise Comparison Inefficiency</a:t>
            </a:r>
          </a:p>
          <a:p>
            <a:pPr>
              <a:defRPr sz="1300">
                <a:solidFill>
                  <a:srgbClr val="1E293B"/>
                </a:solidFill>
                <a:latin typeface="Calibri"/>
              </a:defRPr>
            </a:pPr>
            <a:r>
              <a:t>Comparing two 100-page policy revisions using brute-force LLMs requires 44,000+ API calls, taking 45+ minutes and high cloud costs.</a:t>
            </a:r>
          </a:p>
          <a:p>
            <a:pPr>
              <a:defRPr sz="1300" b="1">
                <a:solidFill>
                  <a:srgbClr val="D97706"/>
                </a:solidFill>
                <a:latin typeface="Calibri"/>
              </a:defRPr>
            </a:pPr>
            <a:r>
              <a:t>IMPACT ON LTIMINDTREE CLIENTS: Discrepancies cause wrongful claim rejections, customer litigation, and compliance violations.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8686800" cy="274320"/>
          </a:xfrm>
          <a:prstGeom prst="rect">
            <a:avLst/>
          </a:prstGeom>
          <a:noFill/>
        </p:spPr>
        <p:txBody>
          <a:bodyPr wrap="square" tIns="0" bIns="0">
            <a:spAutoFit/>
          </a:bodyPr>
          <a:lstStyle/>
          <a:p>
            <a:pPr>
              <a:defRPr sz="1100" b="1">
                <a:solidFill>
                  <a:srgbClr val="D97706"/>
                </a:solidFill>
                <a:latin typeface="Calibri"/>
              </a:defRPr>
            </a:pPr>
            <a:r>
              <a:t>M.TECH/MCA PROGRAM — REVIEW III</a:t>
            </a:r>
          </a:p>
        </p:txBody>
      </p:sp>
      <p:sp>
        <p:nvSpPr>
          <p:cNvPr id="4" name="TextBox 3"/>
          <p:cNvSpPr txBox="1"/>
          <p:nvPr/>
        </p:nvSpPr>
        <p:spPr>
          <a:xfrm>
            <a:off x="731520" y="365760"/>
            <a:ext cx="8686800" cy="594360"/>
          </a:xfrm>
          <a:prstGeom prst="rect">
            <a:avLst/>
          </a:prstGeom>
          <a:noFill/>
        </p:spPr>
        <p:txBody>
          <a:bodyPr wrap="square" tIns="0" bIns="0">
            <a:spAutoFit/>
          </a:bodyPr>
          <a:lstStyle/>
          <a:p>
            <a:pPr>
              <a:defRPr sz="3400" b="1">
                <a:solidFill>
                  <a:srgbClr val="FFFFFF"/>
                </a:solidFill>
                <a:latin typeface="Calibri"/>
              </a:defRPr>
            </a:pPr>
            <a:r>
              <a:t>Methodology &amp; Technical Workflow</a:t>
            </a:r>
          </a:p>
        </p:txBody>
      </p:sp>
      <p:sp>
        <p:nvSpPr>
          <p:cNvPr id="5" name="Rounded Rectangle 4"/>
          <p:cNvSpPr/>
          <p:nvPr/>
        </p:nvSpPr>
        <p:spPr>
          <a:xfrm>
            <a:off x="9692640" y="201168"/>
            <a:ext cx="1920240" cy="621792"/>
          </a:xfrm>
          <a:prstGeom prst="round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Calibri"/>
              </a:defRPr>
            </a:pPr>
            <a:r>
              <a:t>LTIMindtree</a:t>
            </a:r>
          </a:p>
          <a:p>
            <a:pPr algn="ctr">
              <a:defRPr sz="900">
                <a:solidFill>
                  <a:srgbClr val="FEF3C7"/>
                </a:solidFill>
                <a:latin typeface="Calibri"/>
              </a:defRPr>
            </a:pPr>
            <a:r>
              <a:t>LTM Knowledge Partner</a:t>
            </a:r>
          </a:p>
        </p:txBody>
      </p:sp>
      <p:sp>
        <p:nvSpPr>
          <p:cNvPr id="6" name="Rectangle 5"/>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10728655" cy="320040"/>
          </a:xfrm>
          <a:prstGeom prst="rect">
            <a:avLst/>
          </a:prstGeom>
          <a:noFill/>
        </p:spPr>
        <p:txBody>
          <a:bodyPr wrap="none">
            <a:spAutoFit/>
          </a:bodyPr>
          <a:lstStyle/>
          <a:p>
            <a:pPr>
              <a:defRPr sz="1000">
                <a:solidFill>
                  <a:srgbClr val="64748B"/>
                </a:solidFill>
                <a:latin typeface="Calibri"/>
              </a:defRPr>
            </a:pPr>
            <a:r>
              <a:t>Advanced Industry Integrated Programs | Knowledge Partner: LTIMindtree (LTM) | Jointly Offered with University | Slide 6</a:t>
            </a:r>
          </a:p>
        </p:txBody>
      </p:sp>
      <p:sp>
        <p:nvSpPr>
          <p:cNvPr id="8" name="Rounded Rectangle 7"/>
          <p:cNvSpPr/>
          <p:nvPr/>
        </p:nvSpPr>
        <p:spPr>
          <a:xfrm>
            <a:off x="731520" y="1280160"/>
            <a:ext cx="1965960" cy="2926080"/>
          </a:xfrm>
          <a:prstGeom prst="roundRect">
            <a:avLst/>
          </a:prstGeom>
          <a:solidFill>
            <a:srgbClr val="F8FAFC"/>
          </a:solidFill>
          <a:ln w="254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1280160"/>
            <a:ext cx="1965960" cy="64008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7706"/>
                </a:solidFill>
                <a:latin typeface="Calibri"/>
              </a:defRPr>
            </a:pPr>
            <a:r>
              <a:t>STEP 1</a:t>
            </a:r>
          </a:p>
          <a:p>
            <a:pPr algn="ctr">
              <a:defRPr sz="1200" b="1">
                <a:solidFill>
                  <a:srgbClr val="FFFFFF"/>
                </a:solidFill>
                <a:latin typeface="Calibri"/>
              </a:defRPr>
            </a:pPr>
            <a:r>
              <a:t>PDF Ingestion</a:t>
            </a:r>
          </a:p>
        </p:txBody>
      </p:sp>
      <p:sp>
        <p:nvSpPr>
          <p:cNvPr id="10" name="TextBox 9"/>
          <p:cNvSpPr txBox="1"/>
          <p:nvPr/>
        </p:nvSpPr>
        <p:spPr>
          <a:xfrm>
            <a:off x="822960" y="2011680"/>
            <a:ext cx="1783080" cy="2103120"/>
          </a:xfrm>
          <a:prstGeom prst="rect">
            <a:avLst/>
          </a:prstGeom>
          <a:noFill/>
        </p:spPr>
        <p:txBody>
          <a:bodyPr wrap="square">
            <a:spAutoFit/>
          </a:bodyPr>
          <a:lstStyle/>
          <a:p>
            <a:pPr>
              <a:defRPr sz="1300">
                <a:solidFill>
                  <a:srgbClr val="1E293B"/>
                </a:solidFill>
                <a:latin typeface="Calibri"/>
              </a:defRPr>
            </a:pPr>
            <a:r>
              <a:t>PyMuPDF parsing</a:t>
            </a:r>
            <a:br/>
            <a:r>
              <a:t>Breadcrumb tags</a:t>
            </a:r>
            <a:br/>
            <a:r>
              <a:t>Sliding window (900/150)</a:t>
            </a:r>
          </a:p>
        </p:txBody>
      </p:sp>
      <p:sp>
        <p:nvSpPr>
          <p:cNvPr id="11" name="Right Arrow 10"/>
          <p:cNvSpPr/>
          <p:nvPr/>
        </p:nvSpPr>
        <p:spPr>
          <a:xfrm>
            <a:off x="2734056" y="2468880"/>
            <a:ext cx="146304" cy="228600"/>
          </a:xfrm>
          <a:prstGeom prst="rightArrow">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916936" y="1280160"/>
            <a:ext cx="1965960" cy="2926080"/>
          </a:xfrm>
          <a:prstGeom prst="roundRect">
            <a:avLst/>
          </a:prstGeom>
          <a:solidFill>
            <a:srgbClr val="F8FAFC"/>
          </a:solidFill>
          <a:ln w="254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16936" y="1280160"/>
            <a:ext cx="1965960" cy="64008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7706"/>
                </a:solidFill>
                <a:latin typeface="Calibri"/>
              </a:defRPr>
            </a:pPr>
            <a:r>
              <a:t>STEP 2</a:t>
            </a:r>
          </a:p>
          <a:p>
            <a:pPr algn="ctr">
              <a:defRPr sz="1200" b="1">
                <a:solidFill>
                  <a:srgbClr val="FFFFFF"/>
                </a:solidFill>
                <a:latin typeface="Calibri"/>
              </a:defRPr>
            </a:pPr>
            <a:r>
              <a:t>Hybrid Search</a:t>
            </a:r>
          </a:p>
        </p:txBody>
      </p:sp>
      <p:sp>
        <p:nvSpPr>
          <p:cNvPr id="14" name="TextBox 13"/>
          <p:cNvSpPr txBox="1"/>
          <p:nvPr/>
        </p:nvSpPr>
        <p:spPr>
          <a:xfrm>
            <a:off x="3008376" y="2011680"/>
            <a:ext cx="1783080" cy="2103120"/>
          </a:xfrm>
          <a:prstGeom prst="rect">
            <a:avLst/>
          </a:prstGeom>
          <a:noFill/>
        </p:spPr>
        <p:txBody>
          <a:bodyPr wrap="square">
            <a:spAutoFit/>
          </a:bodyPr>
          <a:lstStyle/>
          <a:p>
            <a:pPr>
              <a:defRPr sz="1300">
                <a:solidFill>
                  <a:srgbClr val="1E293B"/>
                </a:solidFill>
                <a:latin typeface="Calibri"/>
              </a:defRPr>
            </a:pPr>
            <a:r>
              <a:t>BM25 keyword search</a:t>
            </a:r>
            <a:br/>
            <a:r>
              <a:t>pgvector cosine search</a:t>
            </a:r>
            <a:br/>
            <a:r>
              <a:t>RRF Rank Fusion (k=60)</a:t>
            </a:r>
          </a:p>
        </p:txBody>
      </p:sp>
      <p:sp>
        <p:nvSpPr>
          <p:cNvPr id="15" name="Right Arrow 14"/>
          <p:cNvSpPr/>
          <p:nvPr/>
        </p:nvSpPr>
        <p:spPr>
          <a:xfrm>
            <a:off x="4919472" y="2468880"/>
            <a:ext cx="146304" cy="228600"/>
          </a:xfrm>
          <a:prstGeom prst="rightArrow">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102352" y="1280160"/>
            <a:ext cx="1965960" cy="2926080"/>
          </a:xfrm>
          <a:prstGeom prst="roundRect">
            <a:avLst/>
          </a:prstGeom>
          <a:solidFill>
            <a:srgbClr val="F8FAFC"/>
          </a:solidFill>
          <a:ln w="254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102352" y="1280160"/>
            <a:ext cx="1965960" cy="64008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7706"/>
                </a:solidFill>
                <a:latin typeface="Calibri"/>
              </a:defRPr>
            </a:pPr>
            <a:r>
              <a:t>STEP 3</a:t>
            </a:r>
          </a:p>
          <a:p>
            <a:pPr algn="ctr">
              <a:defRPr sz="1200" b="1">
                <a:solidFill>
                  <a:srgbClr val="FFFFFF"/>
                </a:solidFill>
                <a:latin typeface="Calibri"/>
              </a:defRPr>
            </a:pPr>
            <a:r>
              <a:t>Graph Traversal</a:t>
            </a:r>
          </a:p>
        </p:txBody>
      </p:sp>
      <p:sp>
        <p:nvSpPr>
          <p:cNvPr id="18" name="TextBox 17"/>
          <p:cNvSpPr txBox="1"/>
          <p:nvPr/>
        </p:nvSpPr>
        <p:spPr>
          <a:xfrm>
            <a:off x="5193792" y="2011680"/>
            <a:ext cx="1783080" cy="2103120"/>
          </a:xfrm>
          <a:prstGeom prst="rect">
            <a:avLst/>
          </a:prstGeom>
          <a:noFill/>
        </p:spPr>
        <p:txBody>
          <a:bodyPr wrap="square">
            <a:spAutoFit/>
          </a:bodyPr>
          <a:lstStyle/>
          <a:p>
            <a:pPr>
              <a:defRPr sz="1300">
                <a:solidFill>
                  <a:srgbClr val="1E293B"/>
                </a:solidFill>
                <a:latin typeface="Calibri"/>
              </a:defRPr>
            </a:pPr>
            <a:r>
              <a:t>HippoRAG walks</a:t>
            </a:r>
            <a:br/>
            <a:r>
              <a:t>Condition to sub-limit</a:t>
            </a:r>
            <a:br/>
            <a:r>
              <a:t>Multi-hop clause link</a:t>
            </a:r>
          </a:p>
        </p:txBody>
      </p:sp>
      <p:sp>
        <p:nvSpPr>
          <p:cNvPr id="19" name="Right Arrow 18"/>
          <p:cNvSpPr/>
          <p:nvPr/>
        </p:nvSpPr>
        <p:spPr>
          <a:xfrm>
            <a:off x="7104888" y="2468880"/>
            <a:ext cx="146304" cy="228600"/>
          </a:xfrm>
          <a:prstGeom prst="rightArrow">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287768" y="1280160"/>
            <a:ext cx="1965960" cy="2926080"/>
          </a:xfrm>
          <a:prstGeom prst="roundRect">
            <a:avLst/>
          </a:prstGeom>
          <a:solidFill>
            <a:srgbClr val="F8FAFC"/>
          </a:solidFill>
          <a:ln w="254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287768" y="1280160"/>
            <a:ext cx="1965960" cy="64008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7706"/>
                </a:solidFill>
                <a:latin typeface="Calibri"/>
              </a:defRPr>
            </a:pPr>
            <a:r>
              <a:t>STEP 4</a:t>
            </a:r>
          </a:p>
          <a:p>
            <a:pPr algn="ctr">
              <a:defRPr sz="1200" b="1">
                <a:solidFill>
                  <a:srgbClr val="FFFFFF"/>
                </a:solidFill>
                <a:latin typeface="Calibri"/>
              </a:defRPr>
            </a:pPr>
            <a:r>
              <a:t>CRAG &amp; Rerank</a:t>
            </a:r>
          </a:p>
        </p:txBody>
      </p:sp>
      <p:sp>
        <p:nvSpPr>
          <p:cNvPr id="22" name="TextBox 21"/>
          <p:cNvSpPr txBox="1"/>
          <p:nvPr/>
        </p:nvSpPr>
        <p:spPr>
          <a:xfrm>
            <a:off x="7379208" y="2011680"/>
            <a:ext cx="1783080" cy="2103120"/>
          </a:xfrm>
          <a:prstGeom prst="rect">
            <a:avLst/>
          </a:prstGeom>
          <a:noFill/>
        </p:spPr>
        <p:txBody>
          <a:bodyPr wrap="square">
            <a:spAutoFit/>
          </a:bodyPr>
          <a:lstStyle/>
          <a:p>
            <a:pPr>
              <a:defRPr sz="1300">
                <a:solidFill>
                  <a:srgbClr val="1E293B"/>
                </a:solidFill>
                <a:latin typeface="Calibri"/>
              </a:defRPr>
            </a:pPr>
            <a:r>
              <a:t>Retriever grading</a:t>
            </a:r>
            <a:br/>
            <a:r>
              <a:t>Query expansion</a:t>
            </a:r>
            <a:br/>
            <a:r>
              <a:t>Cross-encoder scoring</a:t>
            </a:r>
          </a:p>
        </p:txBody>
      </p:sp>
      <p:sp>
        <p:nvSpPr>
          <p:cNvPr id="23" name="Right Arrow 22"/>
          <p:cNvSpPr/>
          <p:nvPr/>
        </p:nvSpPr>
        <p:spPr>
          <a:xfrm>
            <a:off x="9290304" y="2468880"/>
            <a:ext cx="146304" cy="228600"/>
          </a:xfrm>
          <a:prstGeom prst="rightArrow">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9473184" y="1280160"/>
            <a:ext cx="1965960" cy="2926080"/>
          </a:xfrm>
          <a:prstGeom prst="roundRect">
            <a:avLst/>
          </a:prstGeom>
          <a:solidFill>
            <a:srgbClr val="F8FAFC"/>
          </a:solidFill>
          <a:ln w="254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473184" y="1280160"/>
            <a:ext cx="1965960" cy="64008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7706"/>
                </a:solidFill>
                <a:latin typeface="Calibri"/>
              </a:defRPr>
            </a:pPr>
            <a:r>
              <a:t>STEP 5</a:t>
            </a:r>
          </a:p>
          <a:p>
            <a:pPr algn="ctr">
              <a:defRPr sz="1200" b="1">
                <a:solidFill>
                  <a:srgbClr val="FFFFFF"/>
                </a:solidFill>
                <a:latin typeface="Calibri"/>
              </a:defRPr>
            </a:pPr>
            <a:r>
              <a:t>Verify &amp; Refine</a:t>
            </a:r>
          </a:p>
        </p:txBody>
      </p:sp>
      <p:sp>
        <p:nvSpPr>
          <p:cNvPr id="26" name="TextBox 25"/>
          <p:cNvSpPr txBox="1"/>
          <p:nvPr/>
        </p:nvSpPr>
        <p:spPr>
          <a:xfrm>
            <a:off x="9564624" y="2011680"/>
            <a:ext cx="1783080" cy="2103120"/>
          </a:xfrm>
          <a:prstGeom prst="rect">
            <a:avLst/>
          </a:prstGeom>
          <a:noFill/>
        </p:spPr>
        <p:txBody>
          <a:bodyPr wrap="square">
            <a:spAutoFit/>
          </a:bodyPr>
          <a:lstStyle/>
          <a:p>
            <a:pPr>
              <a:defRPr sz="1300">
                <a:solidFill>
                  <a:srgbClr val="1E293B"/>
                </a:solidFill>
                <a:latin typeface="Calibri"/>
              </a:defRPr>
            </a:pPr>
            <a:r>
              <a:t>MiniCheck claim check</a:t>
            </a:r>
            <a:br/>
            <a:r>
              <a:t>Numeric set-difference</a:t>
            </a:r>
            <a:br/>
            <a:r>
              <a:t>Self-Refine prompt loop</a:t>
            </a:r>
          </a:p>
        </p:txBody>
      </p:sp>
      <p:sp>
        <p:nvSpPr>
          <p:cNvPr id="27" name="Rounded Rectangle 26"/>
          <p:cNvSpPr/>
          <p:nvPr/>
        </p:nvSpPr>
        <p:spPr>
          <a:xfrm>
            <a:off x="731520" y="4389120"/>
            <a:ext cx="10728655" cy="18288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A365D"/>
                </a:solidFill>
                <a:latin typeface="Calibri"/>
              </a:defRPr>
            </a:pPr>
            <a:r>
              <a:t>ALGORITHMIC RIGOR IN THE METHODOLOGY PIPELINE:</a:t>
            </a:r>
          </a:p>
          <a:p>
            <a:pPr>
              <a:spcAft>
                <a:spcPts val="400"/>
              </a:spcAft>
              <a:defRPr sz="1500">
                <a:solidFill>
                  <a:srgbClr val="1E293B"/>
                </a:solidFill>
                <a:latin typeface="Calibri"/>
              </a:defRPr>
            </a:pPr>
            <a:r>
              <a:t>•  Breadcrumb Tagging: Injects [Policy | Section | Clause | Type] into every chunk to ensure embedding context retention.</a:t>
            </a:r>
          </a:p>
          <a:p>
            <a:pPr>
              <a:spcAft>
                <a:spcPts val="400"/>
              </a:spcAft>
              <a:defRPr sz="1500">
                <a:solidFill>
                  <a:srgbClr val="1E293B"/>
                </a:solidFill>
                <a:latin typeface="Calibri"/>
              </a:defRPr>
            </a:pPr>
            <a:r>
              <a:t>•  Deterministic Guardrail: Decomposes responses into atomic claims verified via MiniCheck NLI and Regex numerical sets.</a:t>
            </a:r>
          </a:p>
          <a:p>
            <a:pPr>
              <a:spcAft>
                <a:spcPts val="400"/>
              </a:spcAft>
              <a:defRPr sz="1500">
                <a:solidFill>
                  <a:srgbClr val="1E293B"/>
                </a:solidFill>
                <a:latin typeface="Calibri"/>
              </a:defRPr>
            </a:pPr>
            <a:r>
              <a:t>•  Self-Correction: Triggers an automated Self-Refine prompt loop if unverified numbers or rule violations are detected.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8686800" cy="274320"/>
          </a:xfrm>
          <a:prstGeom prst="rect">
            <a:avLst/>
          </a:prstGeom>
          <a:noFill/>
        </p:spPr>
        <p:txBody>
          <a:bodyPr wrap="square" tIns="0" bIns="0">
            <a:spAutoFit/>
          </a:bodyPr>
          <a:lstStyle/>
          <a:p>
            <a:pPr>
              <a:defRPr sz="1100" b="1">
                <a:solidFill>
                  <a:srgbClr val="D97706"/>
                </a:solidFill>
                <a:latin typeface="Calibri"/>
              </a:defRPr>
            </a:pPr>
            <a:r>
              <a:t>M.TECH/MCA PROGRAM — REVIEW III</a:t>
            </a:r>
          </a:p>
        </p:txBody>
      </p:sp>
      <p:sp>
        <p:nvSpPr>
          <p:cNvPr id="4" name="TextBox 3"/>
          <p:cNvSpPr txBox="1"/>
          <p:nvPr/>
        </p:nvSpPr>
        <p:spPr>
          <a:xfrm>
            <a:off x="731520" y="365760"/>
            <a:ext cx="8686800" cy="594360"/>
          </a:xfrm>
          <a:prstGeom prst="rect">
            <a:avLst/>
          </a:prstGeom>
          <a:noFill/>
        </p:spPr>
        <p:txBody>
          <a:bodyPr wrap="square" tIns="0" bIns="0">
            <a:spAutoFit/>
          </a:bodyPr>
          <a:lstStyle/>
          <a:p>
            <a:pPr>
              <a:defRPr sz="3400" b="1">
                <a:solidFill>
                  <a:srgbClr val="FFFFFF"/>
                </a:solidFill>
                <a:latin typeface="Calibri"/>
              </a:defRPr>
            </a:pPr>
            <a:r>
              <a:t>Approach, Algorithms &amp; Technology Stack</a:t>
            </a:r>
          </a:p>
        </p:txBody>
      </p:sp>
      <p:sp>
        <p:nvSpPr>
          <p:cNvPr id="5" name="Rounded Rectangle 4"/>
          <p:cNvSpPr/>
          <p:nvPr/>
        </p:nvSpPr>
        <p:spPr>
          <a:xfrm>
            <a:off x="9692640" y="201168"/>
            <a:ext cx="1920240" cy="621792"/>
          </a:xfrm>
          <a:prstGeom prst="round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Calibri"/>
              </a:defRPr>
            </a:pPr>
            <a:r>
              <a:t>LTIMindtree</a:t>
            </a:r>
          </a:p>
          <a:p>
            <a:pPr algn="ctr">
              <a:defRPr sz="900">
                <a:solidFill>
                  <a:srgbClr val="FEF3C7"/>
                </a:solidFill>
                <a:latin typeface="Calibri"/>
              </a:defRPr>
            </a:pPr>
            <a:r>
              <a:t>LTM Knowledge Partner</a:t>
            </a:r>
          </a:p>
        </p:txBody>
      </p:sp>
      <p:sp>
        <p:nvSpPr>
          <p:cNvPr id="6" name="Rectangle 5"/>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10728655" cy="320040"/>
          </a:xfrm>
          <a:prstGeom prst="rect">
            <a:avLst/>
          </a:prstGeom>
          <a:noFill/>
        </p:spPr>
        <p:txBody>
          <a:bodyPr wrap="none">
            <a:spAutoFit/>
          </a:bodyPr>
          <a:lstStyle/>
          <a:p>
            <a:pPr>
              <a:defRPr sz="1000">
                <a:solidFill>
                  <a:srgbClr val="64748B"/>
                </a:solidFill>
                <a:latin typeface="Calibri"/>
              </a:defRPr>
            </a:pPr>
            <a:r>
              <a:t>Advanced Industry Integrated Programs | Knowledge Partner: LTIMindtree (LTM) | Jointly Offered with University | Slide 7</a:t>
            </a:r>
          </a:p>
        </p:txBody>
      </p:sp>
      <p:sp>
        <p:nvSpPr>
          <p:cNvPr id="8" name="Rounded Rectangle 7"/>
          <p:cNvSpPr/>
          <p:nvPr/>
        </p:nvSpPr>
        <p:spPr>
          <a:xfrm>
            <a:off x="731520" y="1280160"/>
            <a:ext cx="3429000" cy="4937760"/>
          </a:xfrm>
          <a:prstGeom prst="roundRect">
            <a:avLst/>
          </a:prstGeom>
          <a:solidFill>
            <a:srgbClr val="F8FAFC"/>
          </a:solidFill>
          <a:ln w="2540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1280160"/>
            <a:ext cx="3429000" cy="59436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Pillar 1: Algorithms &amp; Models</a:t>
            </a:r>
          </a:p>
        </p:txBody>
      </p:sp>
      <p:sp>
        <p:nvSpPr>
          <p:cNvPr id="10" name="TextBox 9"/>
          <p:cNvSpPr txBox="1"/>
          <p:nvPr/>
        </p:nvSpPr>
        <p:spPr>
          <a:xfrm>
            <a:off x="868680" y="1965960"/>
            <a:ext cx="3154680" cy="4160520"/>
          </a:xfrm>
          <a:prstGeom prst="rect">
            <a:avLst/>
          </a:prstGeom>
          <a:noFill/>
        </p:spPr>
        <p:txBody>
          <a:bodyPr wrap="square">
            <a:spAutoFit/>
          </a:bodyPr>
          <a:lstStyle/>
          <a:p>
            <a:pPr>
              <a:spcAft>
                <a:spcPts val="1200"/>
              </a:spcAft>
              <a:defRPr sz="1600">
                <a:solidFill>
                  <a:srgbClr val="1E293B"/>
                </a:solidFill>
                <a:latin typeface="Calibri"/>
              </a:defRPr>
            </a:pPr>
            <a:r>
              <a:t>•  Reciprocal Rank Fusion (RRF, k=60) combining BM25 &amp; dense rankings.</a:t>
            </a:r>
          </a:p>
          <a:p>
            <a:pPr>
              <a:spcAft>
                <a:spcPts val="1200"/>
              </a:spcAft>
              <a:defRPr sz="1600">
                <a:solidFill>
                  <a:srgbClr val="1E293B"/>
                </a:solidFill>
                <a:latin typeface="Calibri"/>
              </a:defRPr>
            </a:pPr>
            <a:r>
              <a:t>•  HippoRAG Personalized PageRank for multi-hop associative traversal.</a:t>
            </a:r>
          </a:p>
          <a:p>
            <a:pPr>
              <a:spcAft>
                <a:spcPts val="1200"/>
              </a:spcAft>
              <a:defRPr sz="1600">
                <a:solidFill>
                  <a:srgbClr val="1E293B"/>
                </a:solidFill>
                <a:latin typeface="Calibri"/>
              </a:defRPr>
            </a:pPr>
            <a:r>
              <a:t>•  BGE Cross-Encoder reranker for deep semantic contextual scoring.</a:t>
            </a:r>
          </a:p>
          <a:p>
            <a:pPr>
              <a:spcAft>
                <a:spcPts val="1200"/>
              </a:spcAft>
              <a:defRPr sz="1600">
                <a:solidFill>
                  <a:srgbClr val="1E293B"/>
                </a:solidFill>
                <a:latin typeface="Calibri"/>
              </a:defRPr>
            </a:pPr>
            <a:r>
              <a:t>•  MiniCheck NLI model for proposition-level claim fact-checking.</a:t>
            </a:r>
          </a:p>
        </p:txBody>
      </p:sp>
      <p:sp>
        <p:nvSpPr>
          <p:cNvPr id="11" name="Rounded Rectangle 10"/>
          <p:cNvSpPr/>
          <p:nvPr/>
        </p:nvSpPr>
        <p:spPr>
          <a:xfrm>
            <a:off x="4379976" y="1280160"/>
            <a:ext cx="3429000" cy="4937760"/>
          </a:xfrm>
          <a:prstGeom prst="roundRect">
            <a:avLst/>
          </a:prstGeom>
          <a:solidFill>
            <a:srgbClr val="F8FAFC"/>
          </a:solidFill>
          <a:ln w="254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79976" y="1280160"/>
            <a:ext cx="3429000" cy="594360"/>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Pillar 2: Mathematical Guardrails</a:t>
            </a:r>
          </a:p>
        </p:txBody>
      </p:sp>
      <p:sp>
        <p:nvSpPr>
          <p:cNvPr id="13" name="TextBox 12"/>
          <p:cNvSpPr txBox="1"/>
          <p:nvPr/>
        </p:nvSpPr>
        <p:spPr>
          <a:xfrm>
            <a:off x="4517136" y="1965960"/>
            <a:ext cx="3154680" cy="4160520"/>
          </a:xfrm>
          <a:prstGeom prst="rect">
            <a:avLst/>
          </a:prstGeom>
          <a:noFill/>
        </p:spPr>
        <p:txBody>
          <a:bodyPr wrap="square">
            <a:spAutoFit/>
          </a:bodyPr>
          <a:lstStyle/>
          <a:p>
            <a:pPr>
              <a:spcAft>
                <a:spcPts val="1200"/>
              </a:spcAft>
              <a:defRPr sz="1600">
                <a:solidFill>
                  <a:srgbClr val="1E293B"/>
                </a:solidFill>
                <a:latin typeface="Calibri"/>
              </a:defRPr>
            </a:pPr>
            <a:r>
              <a:t>•  Set-difference validation: Nums_Answer \ Nums_Evidence = Empty Set.</a:t>
            </a:r>
          </a:p>
          <a:p>
            <a:pPr>
              <a:spcAft>
                <a:spcPts val="1200"/>
              </a:spcAft>
              <a:defRPr sz="1600">
                <a:solidFill>
                  <a:srgbClr val="1E293B"/>
                </a:solidFill>
                <a:latin typeface="Calibri"/>
              </a:defRPr>
            </a:pPr>
            <a:r>
              <a:t>•  Rejects any invented room-rent percentage or waiting period duration.</a:t>
            </a:r>
          </a:p>
          <a:p>
            <a:pPr>
              <a:spcAft>
                <a:spcPts val="1200"/>
              </a:spcAft>
              <a:defRPr sz="1600">
                <a:solidFill>
                  <a:srgbClr val="1E293B"/>
                </a:solidFill>
                <a:latin typeface="Calibri"/>
              </a:defRPr>
            </a:pPr>
            <a:r>
              <a:t>•  NumPy N x M cosine similarity matrix pruning 85% of identical clauses.</a:t>
            </a:r>
          </a:p>
          <a:p>
            <a:pPr>
              <a:spcAft>
                <a:spcPts val="1200"/>
              </a:spcAft>
              <a:defRPr sz="1600">
                <a:solidFill>
                  <a:srgbClr val="1E293B"/>
                </a:solidFill>
                <a:latin typeface="Calibri"/>
              </a:defRPr>
            </a:pPr>
            <a:r>
              <a:t>•  Open Knowledge Format (OKF) deterministic statutory rule engine.</a:t>
            </a:r>
          </a:p>
        </p:txBody>
      </p:sp>
      <p:sp>
        <p:nvSpPr>
          <p:cNvPr id="14" name="Rounded Rectangle 13"/>
          <p:cNvSpPr/>
          <p:nvPr/>
        </p:nvSpPr>
        <p:spPr>
          <a:xfrm>
            <a:off x="8028432" y="1280160"/>
            <a:ext cx="3429000" cy="4937760"/>
          </a:xfrm>
          <a:prstGeom prst="roundRect">
            <a:avLst/>
          </a:prstGeom>
          <a:solidFill>
            <a:srgbClr val="F8FAFC"/>
          </a:solidFill>
          <a:ln w="2540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28432" y="1280160"/>
            <a:ext cx="3429000" cy="59436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Pillar 3: Production Tech Stack</a:t>
            </a:r>
          </a:p>
        </p:txBody>
      </p:sp>
      <p:sp>
        <p:nvSpPr>
          <p:cNvPr id="16" name="TextBox 15"/>
          <p:cNvSpPr txBox="1"/>
          <p:nvPr/>
        </p:nvSpPr>
        <p:spPr>
          <a:xfrm>
            <a:off x="8165592" y="1965960"/>
            <a:ext cx="3154680" cy="4160520"/>
          </a:xfrm>
          <a:prstGeom prst="rect">
            <a:avLst/>
          </a:prstGeom>
          <a:noFill/>
        </p:spPr>
        <p:txBody>
          <a:bodyPr wrap="square">
            <a:spAutoFit/>
          </a:bodyPr>
          <a:lstStyle/>
          <a:p>
            <a:pPr>
              <a:spcAft>
                <a:spcPts val="1200"/>
              </a:spcAft>
              <a:defRPr sz="1600">
                <a:solidFill>
                  <a:srgbClr val="1E293B"/>
                </a:solidFill>
                <a:latin typeface="Calibri"/>
              </a:defRPr>
            </a:pPr>
            <a:r>
              <a:t>•  Backend: Python 3.11, FastAPI (Async), SQLAlchemy ORM.</a:t>
            </a:r>
          </a:p>
          <a:p>
            <a:pPr>
              <a:spcAft>
                <a:spcPts val="1200"/>
              </a:spcAft>
              <a:defRPr sz="1600">
                <a:solidFill>
                  <a:srgbClr val="1E293B"/>
                </a:solidFill>
                <a:latin typeface="Calibri"/>
              </a:defRPr>
            </a:pPr>
            <a:r>
              <a:t>•  Vector Database: PostgreSQL with pgvector extension.</a:t>
            </a:r>
          </a:p>
          <a:p>
            <a:pPr>
              <a:spcAft>
                <a:spcPts val="1200"/>
              </a:spcAft>
              <a:defRPr sz="1600">
                <a:solidFill>
                  <a:srgbClr val="1E293B"/>
                </a:solidFill>
                <a:latin typeface="Calibri"/>
              </a:defRPr>
            </a:pPr>
            <a:r>
              <a:t>•  Frontend: Next.js 14 (App Router), TypeScript, Tailwind CSS.</a:t>
            </a:r>
          </a:p>
          <a:p>
            <a:pPr>
              <a:spcAft>
                <a:spcPts val="1200"/>
              </a:spcAft>
              <a:defRPr sz="1600">
                <a:solidFill>
                  <a:srgbClr val="1E293B"/>
                </a:solidFill>
                <a:latin typeface="Calibri"/>
              </a:defRPr>
            </a:pPr>
            <a:r>
              <a:t>•  Inference: Anthropic Claude 3.5 / OpenAI GPT-4o via provider facade.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8686800" cy="274320"/>
          </a:xfrm>
          <a:prstGeom prst="rect">
            <a:avLst/>
          </a:prstGeom>
          <a:noFill/>
        </p:spPr>
        <p:txBody>
          <a:bodyPr wrap="square" tIns="0" bIns="0">
            <a:spAutoFit/>
          </a:bodyPr>
          <a:lstStyle/>
          <a:p>
            <a:pPr>
              <a:defRPr sz="1100" b="1">
                <a:solidFill>
                  <a:srgbClr val="D97706"/>
                </a:solidFill>
                <a:latin typeface="Calibri"/>
              </a:defRPr>
            </a:pPr>
            <a:r>
              <a:t>M.TECH/MCA PROGRAM — REVIEW III</a:t>
            </a:r>
          </a:p>
        </p:txBody>
      </p:sp>
      <p:sp>
        <p:nvSpPr>
          <p:cNvPr id="4" name="TextBox 3"/>
          <p:cNvSpPr txBox="1"/>
          <p:nvPr/>
        </p:nvSpPr>
        <p:spPr>
          <a:xfrm>
            <a:off x="731520" y="365760"/>
            <a:ext cx="8686800" cy="594360"/>
          </a:xfrm>
          <a:prstGeom prst="rect">
            <a:avLst/>
          </a:prstGeom>
          <a:noFill/>
        </p:spPr>
        <p:txBody>
          <a:bodyPr wrap="square" tIns="0" bIns="0">
            <a:spAutoFit/>
          </a:bodyPr>
          <a:lstStyle/>
          <a:p>
            <a:pPr>
              <a:defRPr sz="3400" b="1">
                <a:solidFill>
                  <a:srgbClr val="FFFFFF"/>
                </a:solidFill>
                <a:latin typeface="Calibri"/>
              </a:defRPr>
            </a:pPr>
            <a:r>
              <a:t>Implementation, Results &amp; Demonstration</a:t>
            </a:r>
          </a:p>
        </p:txBody>
      </p:sp>
      <p:sp>
        <p:nvSpPr>
          <p:cNvPr id="5" name="Rounded Rectangle 4"/>
          <p:cNvSpPr/>
          <p:nvPr/>
        </p:nvSpPr>
        <p:spPr>
          <a:xfrm>
            <a:off x="9692640" y="201168"/>
            <a:ext cx="1920240" cy="621792"/>
          </a:xfrm>
          <a:prstGeom prst="round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Calibri"/>
              </a:defRPr>
            </a:pPr>
            <a:r>
              <a:t>LTIMindtree</a:t>
            </a:r>
          </a:p>
          <a:p>
            <a:pPr algn="ctr">
              <a:defRPr sz="900">
                <a:solidFill>
                  <a:srgbClr val="FEF3C7"/>
                </a:solidFill>
                <a:latin typeface="Calibri"/>
              </a:defRPr>
            </a:pPr>
            <a:r>
              <a:t>LTM Knowledge Partner</a:t>
            </a:r>
          </a:p>
        </p:txBody>
      </p:sp>
      <p:sp>
        <p:nvSpPr>
          <p:cNvPr id="6" name="Rectangle 5"/>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10728655" cy="320040"/>
          </a:xfrm>
          <a:prstGeom prst="rect">
            <a:avLst/>
          </a:prstGeom>
          <a:noFill/>
        </p:spPr>
        <p:txBody>
          <a:bodyPr wrap="none">
            <a:spAutoFit/>
          </a:bodyPr>
          <a:lstStyle/>
          <a:p>
            <a:pPr>
              <a:defRPr sz="1000">
                <a:solidFill>
                  <a:srgbClr val="64748B"/>
                </a:solidFill>
                <a:latin typeface="Calibri"/>
              </a:defRPr>
            </a:pPr>
            <a:r>
              <a:t>Advanced Industry Integrated Programs | Knowledge Partner: LTIMindtree (LTM) | Jointly Offered with University | Slide 8</a:t>
            </a:r>
          </a:p>
        </p:txBody>
      </p:sp>
      <p:sp>
        <p:nvSpPr>
          <p:cNvPr id="8" name="Rounded Rectangle 7"/>
          <p:cNvSpPr/>
          <p:nvPr/>
        </p:nvSpPr>
        <p:spPr>
          <a:xfrm>
            <a:off x="731520" y="1280160"/>
            <a:ext cx="3429000" cy="1645920"/>
          </a:xfrm>
          <a:prstGeom prst="roundRect">
            <a:avLst/>
          </a:prstGeom>
          <a:solidFill>
            <a:srgbClr val="F8FAFC"/>
          </a:solidFill>
          <a:ln w="31750">
            <a:solidFill>
              <a:srgbClr val="10956A"/>
            </a:solid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2200" b="1">
                <a:solidFill>
                  <a:srgbClr val="10956A"/>
                </a:solidFill>
                <a:latin typeface="Calibri"/>
              </a:defRPr>
            </a:pPr>
            <a:r>
              <a:t>100% ACCURACY</a:t>
            </a:r>
          </a:p>
          <a:p>
            <a:pPr algn="ctr">
              <a:defRPr sz="1300" b="1">
                <a:solidFill>
                  <a:srgbClr val="1E293B"/>
                </a:solidFill>
                <a:latin typeface="Calibri"/>
              </a:defRPr>
            </a:pPr>
            <a:r>
              <a:t>Zero Hallucinations</a:t>
            </a:r>
          </a:p>
          <a:p>
            <a:pPr algn="ctr">
              <a:defRPr sz="1100">
                <a:solidFill>
                  <a:srgbClr val="64748B"/>
                </a:solidFill>
                <a:latin typeface="Calibri"/>
              </a:defRPr>
            </a:pPr>
            <a:r>
              <a:t>Nums_Answer \ Nums_Evidence = Empty Set</a:t>
            </a:r>
            <a:br/>
            <a:r>
              <a:t>100% precision on numerical sub-limits</a:t>
            </a:r>
          </a:p>
        </p:txBody>
      </p:sp>
      <p:sp>
        <p:nvSpPr>
          <p:cNvPr id="9" name="Rounded Rectangle 8"/>
          <p:cNvSpPr/>
          <p:nvPr/>
        </p:nvSpPr>
        <p:spPr>
          <a:xfrm>
            <a:off x="4379976" y="1280160"/>
            <a:ext cx="3429000" cy="1645920"/>
          </a:xfrm>
          <a:prstGeom prst="roundRect">
            <a:avLst/>
          </a:prstGeom>
          <a:solidFill>
            <a:srgbClr val="F8FAFC"/>
          </a:solidFill>
          <a:ln w="31750">
            <a:solidFill>
              <a:srgbClr val="0E7490"/>
            </a:solid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2200" b="1">
                <a:solidFill>
                  <a:srgbClr val="0E7490"/>
                </a:solidFill>
                <a:latin typeface="Calibri"/>
              </a:defRPr>
            </a:pPr>
            <a:r>
              <a:t>94.2% RECALL</a:t>
            </a:r>
          </a:p>
          <a:p>
            <a:pPr algn="ctr">
              <a:defRPr sz="1300" b="1">
                <a:solidFill>
                  <a:srgbClr val="1E293B"/>
                </a:solidFill>
                <a:latin typeface="Calibri"/>
              </a:defRPr>
            </a:pPr>
            <a:r>
              <a:t>Retrieval Superiority</a:t>
            </a:r>
          </a:p>
          <a:p>
            <a:pPr algn="ctr">
              <a:defRPr sz="1100">
                <a:solidFill>
                  <a:srgbClr val="64748B"/>
                </a:solidFill>
                <a:latin typeface="Calibri"/>
              </a:defRPr>
            </a:pPr>
            <a:r>
              <a:t>Hybrid RRF + HippoRAG recall</a:t>
            </a:r>
            <a:br/>
            <a:r>
              <a:t>vs 68.5% for standard naive vector search</a:t>
            </a:r>
          </a:p>
        </p:txBody>
      </p:sp>
      <p:sp>
        <p:nvSpPr>
          <p:cNvPr id="10" name="Rounded Rectangle 9"/>
          <p:cNvSpPr/>
          <p:nvPr/>
        </p:nvSpPr>
        <p:spPr>
          <a:xfrm>
            <a:off x="8028432" y="1280160"/>
            <a:ext cx="3429000" cy="1645920"/>
          </a:xfrm>
          <a:prstGeom prst="roundRect">
            <a:avLst/>
          </a:prstGeom>
          <a:solidFill>
            <a:srgbClr val="F8FAFC"/>
          </a:solidFill>
          <a:ln w="31750">
            <a:solidFill>
              <a:srgbClr val="1A365D"/>
            </a:solid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2200" b="1">
                <a:solidFill>
                  <a:srgbClr val="1A365D"/>
                </a:solidFill>
                <a:latin typeface="Calibri"/>
              </a:defRPr>
            </a:pPr>
            <a:r>
              <a:t>28 SECONDS</a:t>
            </a:r>
          </a:p>
          <a:p>
            <a:pPr algn="ctr">
              <a:defRPr sz="1300" b="1">
                <a:solidFill>
                  <a:srgbClr val="1E293B"/>
                </a:solidFill>
                <a:latin typeface="Calibri"/>
              </a:defRPr>
            </a:pPr>
            <a:r>
              <a:t>Fast Version Diffing</a:t>
            </a:r>
          </a:p>
          <a:p>
            <a:pPr algn="ctr">
              <a:defRPr sz="1100">
                <a:solidFill>
                  <a:srgbClr val="64748B"/>
                </a:solidFill>
                <a:latin typeface="Calibri"/>
              </a:defRPr>
            </a:pPr>
            <a:r>
              <a:t>Pruned cosine diffing cuts comparison</a:t>
            </a:r>
            <a:br/>
            <a:r>
              <a:t>from 45 mins to &lt;28s (90%+ API cost cut)</a:t>
            </a:r>
          </a:p>
        </p:txBody>
      </p:sp>
      <p:sp>
        <p:nvSpPr>
          <p:cNvPr id="11" name="Rounded Rectangle 10"/>
          <p:cNvSpPr/>
          <p:nvPr/>
        </p:nvSpPr>
        <p:spPr>
          <a:xfrm>
            <a:off x="731520" y="3108960"/>
            <a:ext cx="5212080" cy="3108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31520" y="3108960"/>
            <a:ext cx="5212080" cy="45720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  PRODUCTION IMPLEMENTATION HIGHLIGHTS</a:t>
            </a:r>
          </a:p>
        </p:txBody>
      </p:sp>
      <p:sp>
        <p:nvSpPr>
          <p:cNvPr id="13" name="TextBox 12"/>
          <p:cNvSpPr txBox="1"/>
          <p:nvPr/>
        </p:nvSpPr>
        <p:spPr>
          <a:xfrm>
            <a:off x="868680" y="3611880"/>
            <a:ext cx="4937760" cy="2514600"/>
          </a:xfrm>
          <a:prstGeom prst="rect">
            <a:avLst/>
          </a:prstGeom>
          <a:noFill/>
        </p:spPr>
        <p:txBody>
          <a:bodyPr wrap="square">
            <a:spAutoFit/>
          </a:bodyPr>
          <a:lstStyle/>
          <a:p>
            <a:pPr>
              <a:spcAft>
                <a:spcPts val="800"/>
              </a:spcAft>
              <a:defRPr sz="1400">
                <a:solidFill>
                  <a:srgbClr val="1E293B"/>
                </a:solidFill>
                <a:latin typeface="Calibri"/>
              </a:defRPr>
            </a:pPr>
            <a:r>
              <a:t>•  Asynchronous FastAPI backend with BackgroundTasks PDF ingestion (120ms initial response).</a:t>
            </a:r>
          </a:p>
          <a:p>
            <a:pPr>
              <a:spcAft>
                <a:spcPts val="800"/>
              </a:spcAft>
              <a:defRPr sz="1400">
                <a:solidFill>
                  <a:srgbClr val="1E293B"/>
                </a:solidFill>
                <a:latin typeface="Calibri"/>
              </a:defRPr>
            </a:pPr>
            <a:r>
              <a:t>•  Tested on real-world statutory health policies: Star Health Comprehensive &amp; Care Health.</a:t>
            </a:r>
          </a:p>
          <a:p>
            <a:pPr>
              <a:spcAft>
                <a:spcPts val="800"/>
              </a:spcAft>
              <a:defRPr sz="1400">
                <a:solidFill>
                  <a:srgbClr val="1E293B"/>
                </a:solidFill>
                <a:latin typeface="Calibri"/>
              </a:defRPr>
            </a:pPr>
            <a:r>
              <a:t>•  PostgreSQL + pgvector connection pool managing dense chunk representations.</a:t>
            </a:r>
          </a:p>
          <a:p>
            <a:pPr>
              <a:spcAft>
                <a:spcPts val="800"/>
              </a:spcAft>
              <a:defRPr sz="1400">
                <a:solidFill>
                  <a:srgbClr val="1E293B"/>
                </a:solidFill>
                <a:latin typeface="Calibri"/>
              </a:defRPr>
            </a:pPr>
            <a:r>
              <a:t>•  Singleton in-memory embedding model caching to prevent inference cold-starts.</a:t>
            </a:r>
          </a:p>
        </p:txBody>
      </p:sp>
      <p:sp>
        <p:nvSpPr>
          <p:cNvPr id="14" name="Rounded Rectangle 13"/>
          <p:cNvSpPr/>
          <p:nvPr/>
        </p:nvSpPr>
        <p:spPr>
          <a:xfrm>
            <a:off x="6248095" y="3108960"/>
            <a:ext cx="5212080" cy="3108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48095" y="3108960"/>
            <a:ext cx="5212080" cy="457200"/>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  LIVE DEMONSTRATION SCENARIOS</a:t>
            </a:r>
          </a:p>
        </p:txBody>
      </p:sp>
      <p:sp>
        <p:nvSpPr>
          <p:cNvPr id="16" name="TextBox 15"/>
          <p:cNvSpPr txBox="1"/>
          <p:nvPr/>
        </p:nvSpPr>
        <p:spPr>
          <a:xfrm>
            <a:off x="6385255" y="3611880"/>
            <a:ext cx="4937760" cy="2514600"/>
          </a:xfrm>
          <a:prstGeom prst="rect">
            <a:avLst/>
          </a:prstGeom>
          <a:noFill/>
        </p:spPr>
        <p:txBody>
          <a:bodyPr wrap="square">
            <a:spAutoFit/>
          </a:bodyPr>
          <a:lstStyle/>
          <a:p>
            <a:pPr>
              <a:spcAft>
                <a:spcPts val="800"/>
              </a:spcAft>
              <a:defRPr sz="1400">
                <a:solidFill>
                  <a:srgbClr val="1E293B"/>
                </a:solidFill>
                <a:latin typeface="Calibri"/>
              </a:defRPr>
            </a:pPr>
            <a:r>
              <a:t>•  Demo 1: Querying Waiting Periods with automatic breadcrumb citation to exact PDF page.</a:t>
            </a:r>
          </a:p>
          <a:p>
            <a:pPr>
              <a:spcAft>
                <a:spcPts val="800"/>
              </a:spcAft>
              <a:defRPr sz="1400">
                <a:solidFill>
                  <a:srgbClr val="1E293B"/>
                </a:solidFill>
                <a:latin typeface="Calibri"/>
              </a:defRPr>
            </a:pPr>
            <a:r>
              <a:t>•  Demo 2: Room-Rent Upgrade test validating proportionate deduction calculations.</a:t>
            </a:r>
          </a:p>
          <a:p>
            <a:pPr>
              <a:spcAft>
                <a:spcPts val="800"/>
              </a:spcAft>
              <a:defRPr sz="1400">
                <a:solidFill>
                  <a:srgbClr val="1E293B"/>
                </a:solidFill>
                <a:latin typeface="Calibri"/>
              </a:defRPr>
            </a:pPr>
            <a:r>
              <a:t>•  Demo 3: Cross-Version Comparison (2022 vs 2024 policy diff showing added co-pay clause).</a:t>
            </a:r>
          </a:p>
          <a:p>
            <a:pPr>
              <a:spcAft>
                <a:spcPts val="800"/>
              </a:spcAft>
              <a:defRPr sz="1400">
                <a:solidFill>
                  <a:srgbClr val="1E293B"/>
                </a:solidFill>
                <a:latin typeface="Calibri"/>
              </a:defRPr>
            </a:pPr>
            <a:r>
              <a:t>•  Demo 4: Interactive Graph Explorer visualizing interconnected medical condition nodes.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8686800" cy="274320"/>
          </a:xfrm>
          <a:prstGeom prst="rect">
            <a:avLst/>
          </a:prstGeom>
          <a:noFill/>
        </p:spPr>
        <p:txBody>
          <a:bodyPr wrap="square" tIns="0" bIns="0">
            <a:spAutoFit/>
          </a:bodyPr>
          <a:lstStyle/>
          <a:p>
            <a:pPr>
              <a:defRPr sz="1100" b="1">
                <a:solidFill>
                  <a:srgbClr val="D97706"/>
                </a:solidFill>
                <a:latin typeface="Calibri"/>
              </a:defRPr>
            </a:pPr>
            <a:r>
              <a:t>M.TECH/MCA PROGRAM — REVIEW III</a:t>
            </a:r>
          </a:p>
        </p:txBody>
      </p:sp>
      <p:sp>
        <p:nvSpPr>
          <p:cNvPr id="4" name="TextBox 3"/>
          <p:cNvSpPr txBox="1"/>
          <p:nvPr/>
        </p:nvSpPr>
        <p:spPr>
          <a:xfrm>
            <a:off x="731520" y="365760"/>
            <a:ext cx="8686800" cy="594360"/>
          </a:xfrm>
          <a:prstGeom prst="rect">
            <a:avLst/>
          </a:prstGeom>
          <a:noFill/>
        </p:spPr>
        <p:txBody>
          <a:bodyPr wrap="square" tIns="0" bIns="0">
            <a:spAutoFit/>
          </a:bodyPr>
          <a:lstStyle/>
          <a:p>
            <a:pPr>
              <a:defRPr sz="3400" b="1">
                <a:solidFill>
                  <a:srgbClr val="FFFFFF"/>
                </a:solidFill>
                <a:latin typeface="Calibri"/>
              </a:defRPr>
            </a:pPr>
            <a:r>
              <a:t>Conclusion &amp; Future Scope</a:t>
            </a:r>
          </a:p>
        </p:txBody>
      </p:sp>
      <p:sp>
        <p:nvSpPr>
          <p:cNvPr id="5" name="Rounded Rectangle 4"/>
          <p:cNvSpPr/>
          <p:nvPr/>
        </p:nvSpPr>
        <p:spPr>
          <a:xfrm>
            <a:off x="9692640" y="201168"/>
            <a:ext cx="1920240" cy="621792"/>
          </a:xfrm>
          <a:prstGeom prst="round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Calibri"/>
              </a:defRPr>
            </a:pPr>
            <a:r>
              <a:t>LTIMindtree</a:t>
            </a:r>
          </a:p>
          <a:p>
            <a:pPr algn="ctr">
              <a:defRPr sz="900">
                <a:solidFill>
                  <a:srgbClr val="FEF3C7"/>
                </a:solidFill>
                <a:latin typeface="Calibri"/>
              </a:defRPr>
            </a:pPr>
            <a:r>
              <a:t>LTM Knowledge Partner</a:t>
            </a:r>
          </a:p>
        </p:txBody>
      </p:sp>
      <p:sp>
        <p:nvSpPr>
          <p:cNvPr id="6" name="Rectangle 5"/>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10728655" cy="320040"/>
          </a:xfrm>
          <a:prstGeom prst="rect">
            <a:avLst/>
          </a:prstGeom>
          <a:noFill/>
        </p:spPr>
        <p:txBody>
          <a:bodyPr wrap="none">
            <a:spAutoFit/>
          </a:bodyPr>
          <a:lstStyle/>
          <a:p>
            <a:pPr>
              <a:defRPr sz="1000">
                <a:solidFill>
                  <a:srgbClr val="64748B"/>
                </a:solidFill>
                <a:latin typeface="Calibri"/>
              </a:defRPr>
            </a:pPr>
            <a:r>
              <a:t>Advanced Industry Integrated Programs | Knowledge Partner: LTIMindtree (LTM) | Jointly Offered with University | Slide 9</a:t>
            </a:r>
          </a:p>
        </p:txBody>
      </p:sp>
      <p:sp>
        <p:nvSpPr>
          <p:cNvPr id="8" name="Rounded Rectangle 7"/>
          <p:cNvSpPr/>
          <p:nvPr/>
        </p:nvSpPr>
        <p:spPr>
          <a:xfrm>
            <a:off x="731520" y="1234440"/>
            <a:ext cx="10728655" cy="49834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1234440"/>
            <a:ext cx="10728655" cy="411480"/>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  REVIEW III MILESTONES &amp; ROAD AHEAD — LTIMINDTREE INDUSTRY INTEGRATED REVIEW</a:t>
            </a:r>
          </a:p>
        </p:txBody>
      </p:sp>
      <p:sp>
        <p:nvSpPr>
          <p:cNvPr id="10" name="TextBox 9"/>
          <p:cNvSpPr txBox="1"/>
          <p:nvPr/>
        </p:nvSpPr>
        <p:spPr>
          <a:xfrm>
            <a:off x="1005840" y="1783080"/>
            <a:ext cx="10149840" cy="4297680"/>
          </a:xfrm>
          <a:prstGeom prst="rect">
            <a:avLst/>
          </a:prstGeom>
          <a:noFill/>
        </p:spPr>
        <p:txBody>
          <a:bodyPr wrap="square">
            <a:spAutoFit/>
          </a:bodyPr>
          <a:lstStyle/>
          <a:p>
            <a:pPr>
              <a:spcAft>
                <a:spcPts val="1400"/>
              </a:spcAft>
              <a:defRPr sz="2200">
                <a:solidFill>
                  <a:srgbClr val="1E293B"/>
                </a:solidFill>
                <a:latin typeface="Calibri"/>
              </a:defRPr>
            </a:pPr>
            <a:r>
              <a:t>•   Delivered an enterprise-ready, evidence-grounded RAG solution eliminating compliance flaws in health insurance.</a:t>
            </a:r>
          </a:p>
          <a:p>
            <a:pPr>
              <a:spcAft>
                <a:spcPts val="1400"/>
              </a:spcAft>
              <a:defRPr sz="2200">
                <a:solidFill>
                  <a:srgbClr val="1E293B"/>
                </a:solidFill>
                <a:latin typeface="Calibri"/>
              </a:defRPr>
            </a:pPr>
            <a:r>
              <a:t>•   Validated that combining deterministic OKF rules with associative knowledge graphs eliminates legal hallucinations.</a:t>
            </a:r>
          </a:p>
          <a:p>
            <a:pPr>
              <a:spcAft>
                <a:spcPts val="1400"/>
              </a:spcAft>
              <a:defRPr sz="2200">
                <a:solidFill>
                  <a:srgbClr val="1E293B"/>
                </a:solidFill>
                <a:latin typeface="Calibri"/>
              </a:defRPr>
            </a:pPr>
            <a:r>
              <a:t>•   Proved significant cost and runtime reductions via algorithmic matrix pruning and asynchronous backend pipelines.</a:t>
            </a:r>
          </a:p>
          <a:p>
            <a:pPr>
              <a:spcAft>
                <a:spcPts val="1400"/>
              </a:spcAft>
              <a:defRPr sz="2200">
                <a:solidFill>
                  <a:srgbClr val="1E293B"/>
                </a:solidFill>
                <a:latin typeface="Calibri"/>
              </a:defRPr>
            </a:pPr>
            <a:r>
              <a:t>•   Future Scope 1: Multi-modal vision integration to parse hospital discharge summaries and itemized billing PDFs.</a:t>
            </a:r>
          </a:p>
          <a:p>
            <a:pPr>
              <a:spcAft>
                <a:spcPts val="1400"/>
              </a:spcAft>
              <a:defRPr sz="2200">
                <a:solidFill>
                  <a:srgbClr val="1E293B"/>
                </a:solidFill>
                <a:latin typeface="Calibri"/>
              </a:defRPr>
            </a:pPr>
            <a:r>
              <a:t>•   Future Scope 2: Vernacular Indian language translation and integration with the National Health Claim Exchange (NHCX / ABDM).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8686800" cy="274320"/>
          </a:xfrm>
          <a:prstGeom prst="rect">
            <a:avLst/>
          </a:prstGeom>
          <a:noFill/>
        </p:spPr>
        <p:txBody>
          <a:bodyPr wrap="square" tIns="0" bIns="0">
            <a:spAutoFit/>
          </a:bodyPr>
          <a:lstStyle/>
          <a:p>
            <a:pPr>
              <a:defRPr sz="1100" b="1">
                <a:solidFill>
                  <a:srgbClr val="D97706"/>
                </a:solidFill>
                <a:latin typeface="Calibri"/>
              </a:defRPr>
            </a:pPr>
            <a:r>
              <a:t>M.TECH/MCA PROGRAM — REVIEW III</a:t>
            </a:r>
          </a:p>
        </p:txBody>
      </p:sp>
      <p:sp>
        <p:nvSpPr>
          <p:cNvPr id="4" name="TextBox 3"/>
          <p:cNvSpPr txBox="1"/>
          <p:nvPr/>
        </p:nvSpPr>
        <p:spPr>
          <a:xfrm>
            <a:off x="731520" y="365760"/>
            <a:ext cx="8686800" cy="594360"/>
          </a:xfrm>
          <a:prstGeom prst="rect">
            <a:avLst/>
          </a:prstGeom>
          <a:noFill/>
        </p:spPr>
        <p:txBody>
          <a:bodyPr wrap="square" tIns="0" bIns="0">
            <a:spAutoFit/>
          </a:bodyPr>
          <a:lstStyle/>
          <a:p>
            <a:pPr>
              <a:defRPr sz="3400" b="1">
                <a:solidFill>
                  <a:srgbClr val="FFFFFF"/>
                </a:solidFill>
                <a:latin typeface="Calibri"/>
              </a:defRPr>
            </a:pPr>
            <a:r>
              <a:t>Acknowledgement</a:t>
            </a:r>
          </a:p>
        </p:txBody>
      </p:sp>
      <p:sp>
        <p:nvSpPr>
          <p:cNvPr id="5" name="Rounded Rectangle 4"/>
          <p:cNvSpPr/>
          <p:nvPr/>
        </p:nvSpPr>
        <p:spPr>
          <a:xfrm>
            <a:off x="9692640" y="201168"/>
            <a:ext cx="1920240" cy="621792"/>
          </a:xfrm>
          <a:prstGeom prst="round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Calibri"/>
              </a:defRPr>
            </a:pPr>
            <a:r>
              <a:t>LTIMindtree</a:t>
            </a:r>
          </a:p>
          <a:p>
            <a:pPr algn="ctr">
              <a:defRPr sz="900">
                <a:solidFill>
                  <a:srgbClr val="FEF3C7"/>
                </a:solidFill>
                <a:latin typeface="Calibri"/>
              </a:defRPr>
            </a:pPr>
            <a:r>
              <a:t>LTM Knowledge Partner</a:t>
            </a:r>
          </a:p>
        </p:txBody>
      </p:sp>
      <p:sp>
        <p:nvSpPr>
          <p:cNvPr id="6" name="Rectangle 5"/>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10728655" cy="320040"/>
          </a:xfrm>
          <a:prstGeom prst="rect">
            <a:avLst/>
          </a:prstGeom>
          <a:noFill/>
        </p:spPr>
        <p:txBody>
          <a:bodyPr wrap="none">
            <a:spAutoFit/>
          </a:bodyPr>
          <a:lstStyle/>
          <a:p>
            <a:pPr>
              <a:defRPr sz="1000">
                <a:solidFill>
                  <a:srgbClr val="64748B"/>
                </a:solidFill>
                <a:latin typeface="Calibri"/>
              </a:defRPr>
            </a:pPr>
            <a:r>
              <a:t>Advanced Industry Integrated Programs | Knowledge Partner: LTIMindtree (LTM) | Jointly Offered with University | Slide 10</a:t>
            </a:r>
          </a:p>
        </p:txBody>
      </p:sp>
      <p:sp>
        <p:nvSpPr>
          <p:cNvPr id="8" name="Rounded Rectangle 7"/>
          <p:cNvSpPr/>
          <p:nvPr/>
        </p:nvSpPr>
        <p:spPr>
          <a:xfrm>
            <a:off x="731520" y="1234440"/>
            <a:ext cx="10728655" cy="49834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1234440"/>
            <a:ext cx="10728655" cy="411480"/>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  GRATITUDE &amp; MENTORSHIP — LTIMINDTREE INDUSTRY INTEGRATED REVIEW</a:t>
            </a:r>
          </a:p>
        </p:txBody>
      </p:sp>
      <p:sp>
        <p:nvSpPr>
          <p:cNvPr id="10" name="TextBox 9"/>
          <p:cNvSpPr txBox="1"/>
          <p:nvPr/>
        </p:nvSpPr>
        <p:spPr>
          <a:xfrm>
            <a:off x="1005840" y="1783080"/>
            <a:ext cx="10149840" cy="4297680"/>
          </a:xfrm>
          <a:prstGeom prst="rect">
            <a:avLst/>
          </a:prstGeom>
          <a:noFill/>
        </p:spPr>
        <p:txBody>
          <a:bodyPr wrap="square">
            <a:spAutoFit/>
          </a:bodyPr>
          <a:lstStyle/>
          <a:p>
            <a:pPr>
              <a:spcAft>
                <a:spcPts val="1400"/>
              </a:spcAft>
              <a:defRPr sz="2200">
                <a:solidFill>
                  <a:srgbClr val="1E293B"/>
                </a:solidFill>
                <a:latin typeface="Calibri"/>
              </a:defRPr>
            </a:pPr>
            <a:r>
              <a:t>•   Sincere gratitude to our Academic Project Guide and Faculty Members for technical guidance and continuous mentorship.</a:t>
            </a:r>
          </a:p>
          <a:p>
            <a:pPr>
              <a:spcAft>
                <a:spcPts val="1400"/>
              </a:spcAft>
              <a:defRPr sz="2200">
                <a:solidFill>
                  <a:srgbClr val="1E293B"/>
                </a:solidFill>
                <a:latin typeface="Calibri"/>
              </a:defRPr>
            </a:pPr>
            <a:r>
              <a:t>•   Special appreciation to our Industry Mentors at LTIMindtree for sharing enterprise architectural insights and review standards.</a:t>
            </a:r>
          </a:p>
          <a:p>
            <a:pPr>
              <a:spcAft>
                <a:spcPts val="1400"/>
              </a:spcAft>
              <a:defRPr sz="2200">
                <a:solidFill>
                  <a:srgbClr val="1E293B"/>
                </a:solidFill>
                <a:latin typeface="Calibri"/>
              </a:defRPr>
            </a:pPr>
            <a:r>
              <a:t>•   Grateful to the University and Department of Computer Applications for providing laboratory and computing facilities.</a:t>
            </a:r>
          </a:p>
          <a:p>
            <a:pPr>
              <a:spcAft>
                <a:spcPts val="1400"/>
              </a:spcAft>
              <a:defRPr sz="2200">
                <a:solidFill>
                  <a:srgbClr val="1E293B"/>
                </a:solidFill>
                <a:latin typeface="Calibri"/>
              </a:defRPr>
            </a:pPr>
            <a:r>
              <a:t>•   Heartfelt thanks to peer reviewers and family for their unwavering encouragement throughout the Capstone Project lifecycle.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8686800" cy="274320"/>
          </a:xfrm>
          <a:prstGeom prst="rect">
            <a:avLst/>
          </a:prstGeom>
          <a:noFill/>
        </p:spPr>
        <p:txBody>
          <a:bodyPr wrap="square" tIns="0" bIns="0">
            <a:spAutoFit/>
          </a:bodyPr>
          <a:lstStyle/>
          <a:p>
            <a:pPr>
              <a:defRPr sz="1100" b="1">
                <a:solidFill>
                  <a:srgbClr val="D97706"/>
                </a:solidFill>
                <a:latin typeface="Calibri"/>
              </a:defRPr>
            </a:pPr>
            <a:r>
              <a:t>M.TECH/MCA PROGRAM — REVIEW III</a:t>
            </a:r>
          </a:p>
        </p:txBody>
      </p:sp>
      <p:sp>
        <p:nvSpPr>
          <p:cNvPr id="4" name="TextBox 3"/>
          <p:cNvSpPr txBox="1"/>
          <p:nvPr/>
        </p:nvSpPr>
        <p:spPr>
          <a:xfrm>
            <a:off x="731520" y="365760"/>
            <a:ext cx="8686800" cy="594360"/>
          </a:xfrm>
          <a:prstGeom prst="rect">
            <a:avLst/>
          </a:prstGeom>
          <a:noFill/>
        </p:spPr>
        <p:txBody>
          <a:bodyPr wrap="square" tIns="0" bIns="0">
            <a:spAutoFit/>
          </a:bodyPr>
          <a:lstStyle/>
          <a:p>
            <a:pPr>
              <a:defRPr sz="3400" b="1">
                <a:solidFill>
                  <a:srgbClr val="FFFFFF"/>
                </a:solidFill>
                <a:latin typeface="Calibri"/>
              </a:defRPr>
            </a:pPr>
            <a:r>
              <a:t>References</a:t>
            </a:r>
          </a:p>
        </p:txBody>
      </p:sp>
      <p:sp>
        <p:nvSpPr>
          <p:cNvPr id="5" name="Rounded Rectangle 4"/>
          <p:cNvSpPr/>
          <p:nvPr/>
        </p:nvSpPr>
        <p:spPr>
          <a:xfrm>
            <a:off x="9692640" y="201168"/>
            <a:ext cx="1920240" cy="621792"/>
          </a:xfrm>
          <a:prstGeom prst="round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Calibri"/>
              </a:defRPr>
            </a:pPr>
            <a:r>
              <a:t>LTIMindtree</a:t>
            </a:r>
          </a:p>
          <a:p>
            <a:pPr algn="ctr">
              <a:defRPr sz="900">
                <a:solidFill>
                  <a:srgbClr val="FEF3C7"/>
                </a:solidFill>
                <a:latin typeface="Calibri"/>
              </a:defRPr>
            </a:pPr>
            <a:r>
              <a:t>LTM Knowledge Partner</a:t>
            </a:r>
          </a:p>
        </p:txBody>
      </p:sp>
      <p:sp>
        <p:nvSpPr>
          <p:cNvPr id="6" name="Rectangle 5"/>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10728655" cy="320040"/>
          </a:xfrm>
          <a:prstGeom prst="rect">
            <a:avLst/>
          </a:prstGeom>
          <a:noFill/>
        </p:spPr>
        <p:txBody>
          <a:bodyPr wrap="none">
            <a:spAutoFit/>
          </a:bodyPr>
          <a:lstStyle/>
          <a:p>
            <a:pPr>
              <a:defRPr sz="1000">
                <a:solidFill>
                  <a:srgbClr val="64748B"/>
                </a:solidFill>
                <a:latin typeface="Calibri"/>
              </a:defRPr>
            </a:pPr>
            <a:r>
              <a:t>Advanced Industry Integrated Programs | Knowledge Partner: LTIMindtree (LTM) | Jointly Offered with University | Slide 11</a:t>
            </a:r>
          </a:p>
        </p:txBody>
      </p:sp>
      <p:sp>
        <p:nvSpPr>
          <p:cNvPr id="8" name="Rounded Rectangle 7"/>
          <p:cNvSpPr/>
          <p:nvPr/>
        </p:nvSpPr>
        <p:spPr>
          <a:xfrm>
            <a:off x="731520" y="1234440"/>
            <a:ext cx="10728655" cy="49834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1234440"/>
            <a:ext cx="10728655" cy="411480"/>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  PEER-REVIEWED ACADEMIC &amp; TECHNICAL REFERENCES — LTIMINDTREE INDUSTRY INTEGRATED REVIEW</a:t>
            </a:r>
          </a:p>
        </p:txBody>
      </p:sp>
      <p:sp>
        <p:nvSpPr>
          <p:cNvPr id="10" name="TextBox 9"/>
          <p:cNvSpPr txBox="1"/>
          <p:nvPr/>
        </p:nvSpPr>
        <p:spPr>
          <a:xfrm>
            <a:off x="1005840" y="1783080"/>
            <a:ext cx="10149840" cy="4297680"/>
          </a:xfrm>
          <a:prstGeom prst="rect">
            <a:avLst/>
          </a:prstGeom>
          <a:noFill/>
        </p:spPr>
        <p:txBody>
          <a:bodyPr wrap="square">
            <a:spAutoFit/>
          </a:bodyPr>
          <a:lstStyle/>
          <a:p>
            <a:pPr>
              <a:spcAft>
                <a:spcPts val="1400"/>
              </a:spcAft>
              <a:defRPr sz="2200">
                <a:solidFill>
                  <a:srgbClr val="1E293B"/>
                </a:solidFill>
                <a:latin typeface="Calibri"/>
              </a:defRPr>
            </a:pPr>
            <a:r>
              <a:t>•   [1] P. Lewis et al., 'Retrieval-Augmented Generation for Knowledge-Intensive NLP Tasks,' in Advances in Neural Information Processing Systems (NeurIPS), vol. 33, pp. 9459-9474, 2020.</a:t>
            </a:r>
          </a:p>
          <a:p>
            <a:pPr>
              <a:spcAft>
                <a:spcPts val="1400"/>
              </a:spcAft>
              <a:defRPr sz="2200">
                <a:solidFill>
                  <a:srgbClr val="1E293B"/>
                </a:solidFill>
                <a:latin typeface="Calibri"/>
              </a:defRPr>
            </a:pPr>
            <a:r>
              <a:t>•   [2] S. Yan et al., 'Corrective Retrieval Augmented Generation (CRAG),' arXiv preprint arXiv:2401.15884, 2024.</a:t>
            </a:r>
          </a:p>
          <a:p>
            <a:pPr>
              <a:spcAft>
                <a:spcPts val="1400"/>
              </a:spcAft>
              <a:defRPr sz="2200">
                <a:solidFill>
                  <a:srgbClr val="1E293B"/>
                </a:solidFill>
                <a:latin typeface="Calibri"/>
              </a:defRPr>
            </a:pPr>
            <a:r>
              <a:t>•   [3] B. Bernal et al., 'HippoRAG: Neurobiologically Inspired Long-Term Memory for Large Language Models,' in Proc. NeurIPS, 2024.</a:t>
            </a:r>
          </a:p>
          <a:p>
            <a:pPr>
              <a:spcAft>
                <a:spcPts val="1400"/>
              </a:spcAft>
              <a:defRPr sz="2200">
                <a:solidFill>
                  <a:srgbClr val="1E293B"/>
                </a:solidFill>
                <a:latin typeface="Calibri"/>
              </a:defRPr>
            </a:pPr>
            <a:r>
              <a:t>•   [4] L. Qiu et al., 'MiniCheck: Efficient Fact-Checking of Large Language Models with Lightweight Models,' in Proc. EMNLP, 2024.</a:t>
            </a:r>
          </a:p>
          <a:p>
            <a:pPr>
              <a:spcAft>
                <a:spcPts val="1400"/>
              </a:spcAft>
              <a:defRPr sz="2200">
                <a:solidFill>
                  <a:srgbClr val="1E293B"/>
                </a:solidFill>
                <a:latin typeface="Calibri"/>
              </a:defRPr>
            </a:pPr>
            <a:r>
              <a:t>•   [5] G. V. Cormack, C. L. Clarke, and S. Buettcher, 'Reciprocal rank fusion outperforms Condorcet and individual rank learning methods,' in Proc. 32nd Int. ACM SIGIR Conf., pp. 758-759, 2009.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TotalTime>
  <Words>2388</Words>
  <Application>Microsoft Office PowerPoint</Application>
  <PresentationFormat>Widescreen</PresentationFormat>
  <Paragraphs>180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Sasivardhan Talluri</cp:lastModifiedBy>
  <cp:revision>3</cp:revision>
  <dcterms:created xsi:type="dcterms:W3CDTF">2013-01-27T09:14:16Z</dcterms:created>
  <dcterms:modified xsi:type="dcterms:W3CDTF">2026-10-09T10:23:53Z</dcterms:modified>
  <cp:category/>
</cp:coreProperties>
</file>